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38_74D865D6.xml" ContentType="application/vnd.ms-powerpoint.comments+xml"/>
  <Override PartName="/ppt/comments/modernComment_139_49E8B60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314" r:id="rId4"/>
    <p:sldId id="259" r:id="rId5"/>
    <p:sldId id="260" r:id="rId6"/>
    <p:sldId id="261" r:id="rId7"/>
    <p:sldId id="315" r:id="rId8"/>
    <p:sldId id="312" r:id="rId9"/>
    <p:sldId id="263" r:id="rId10"/>
    <p:sldId id="313" r:id="rId11"/>
  </p:sldIdLst>
  <p:sldSz cx="18288000" cy="10287000"/>
  <p:notesSz cx="6858000" cy="9144000"/>
  <p:embeddedFontLst>
    <p:embeddedFont>
      <p:font typeface="Speak Pro" panose="020B0504020101020102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071D00-6468-3589-82AF-2F9AA848CF29}" name="Utilisateur invité" initials="Ui" userId="Utilisateur invité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5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omments/modernComment_138_74D865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0146F2-D792-4F7D-BD6A-95848106D2FB}" authorId="{F9071D00-6468-3589-82AF-2F9AA848CF29}" created="2025-10-17T10:53:56.336">
    <pc:sldMkLst xmlns:pc="http://schemas.microsoft.com/office/powerpoint/2013/main/command">
      <pc:docMk/>
      <pc:sldMk cId="1960338902" sldId="312"/>
    </pc:sldMkLst>
    <p188:txBody>
      <a:bodyPr/>
      <a:lstStyle/>
      <a:p>
        <a:r>
          <a:rPr lang="fr-FR"/>
          <a:t>laetitia</a:t>
        </a:r>
      </a:p>
    </p188:txBody>
  </p188:cm>
</p188:cmLst>
</file>

<file path=ppt/comments/modernComment_139_49E8B6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8E1EE1-5DE7-4797-9BDA-FADABD760C05}" authorId="{F9071D00-6468-3589-82AF-2F9AA848CF29}" created="2025-10-17T10:54:52.119">
    <pc:sldMkLst xmlns:pc="http://schemas.microsoft.com/office/powerpoint/2013/main/command">
      <pc:docMk/>
      <pc:sldMk cId="1239987716" sldId="313"/>
    </pc:sldMkLst>
    <p188:txBody>
      <a:bodyPr/>
      <a:lstStyle/>
      <a:p>
        <a:r>
          <a:rPr lang="fr-FR"/>
          <a:t>Serge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6BF60-9C9E-4F0A-8C4D-7426F28869FE}" type="datetimeFigureOut">
              <a:rPr lang="fr-FR" smtClean="0"/>
              <a:t>30/10/2025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DDDB8-5AFE-44D8-A2B7-15A20593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8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5FEEE0-A50E-DF7C-8311-98C1751AF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3614" y="463060"/>
            <a:ext cx="7857470" cy="1280024"/>
          </a:xfrm>
        </p:spPr>
        <p:txBody>
          <a:bodyPr>
            <a:noAutofit/>
          </a:bodyPr>
          <a:lstStyle>
            <a:lvl1pPr>
              <a:defRPr sz="1710" b="1"/>
            </a:lvl1pPr>
          </a:lstStyle>
          <a:p>
            <a:pPr lvl="0"/>
            <a:r>
              <a:rPr lang="fr-FR"/>
              <a:t>CLIQUEZ POUR MODIFIER LE STYLE DU TITRE DE MASQUE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A33D09-C41C-0E81-40EC-FCC3DD9D1B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11C4E7-A289-48E7-ACE4-30CEA288901E}" type="datetime1">
              <a:rPr lang="fr-FR"/>
              <a:pPr lvl="0"/>
              <a:t>30/10/2025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81883D-AC91-AADC-6D70-346744839B6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95865A-ABB2-9A01-B9CB-D8CC3C91D0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15BF66-CF6C-4461-A204-B84824A4E47E}" type="slidenum">
              <a:t>‹N°›</a:t>
            </a:fld>
            <a:endParaRPr lang="fr-FR"/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8078D6FD-94EA-0C5E-28B3-052BCD3823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43618" y="1469241"/>
            <a:ext cx="5372097" cy="547689"/>
          </a:xfrm>
        </p:spPr>
        <p:txBody>
          <a:bodyPr>
            <a:noAutofit/>
          </a:bodyPr>
          <a:lstStyle>
            <a:lvl1pPr marL="0" indent="0">
              <a:spcBef>
                <a:spcPts val="429"/>
              </a:spcBef>
              <a:buNone/>
              <a:defRPr sz="949" b="1">
                <a:latin typeface="Speak Pro"/>
              </a:defRPr>
            </a:lvl1pPr>
          </a:lstStyle>
          <a:p>
            <a:pPr lvl="0"/>
            <a:r>
              <a:rPr lang="fr-FR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31248698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finnovant.com/microscope-optiqu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flexure.org/projects/microscope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hyperlink" Target="https://atelierdesfuturs.org/q067-pourquoi-et-comment-constituer-une-fiche-de-description-de-projet/" TargetMode="External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7.jpg"/><Relationship Id="rId2" Type="http://schemas.microsoft.com/office/2018/10/relationships/comments" Target="../comments/modernComment_138_74D865D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139_49E8B60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CE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8872" y="4448827"/>
            <a:ext cx="15544800" cy="2246075"/>
            <a:chOff x="0" y="0"/>
            <a:chExt cx="4429450" cy="11464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29450" cy="1146428"/>
            </a:xfrm>
            <a:prstGeom prst="roundRect">
              <a:avLst/>
            </a:prstGeom>
            <a:solidFill>
              <a:srgbClr val="055E6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29450" cy="1184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lang="en-US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56596" y="4683869"/>
            <a:ext cx="1176935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spc="629" noProof="0" dirty="0">
                <a:solidFill>
                  <a:srgbClr val="FFFFFF"/>
                </a:solidFill>
                <a:latin typeface="Times New Roman" panose="02020603050405020304" pitchFamily="18" charset="0"/>
                <a:ea typeface="Margin"/>
                <a:cs typeface="Times New Roman" panose="02020603050405020304" pitchFamily="18" charset="0"/>
                <a:sym typeface="Margin"/>
              </a:rPr>
              <a:t>Manufacturing a microscope (open flexure)</a:t>
            </a:r>
          </a:p>
        </p:txBody>
      </p:sp>
      <p:sp>
        <p:nvSpPr>
          <p:cNvPr id="7" name="Freeform 7"/>
          <p:cNvSpPr/>
          <p:nvPr/>
        </p:nvSpPr>
        <p:spPr>
          <a:xfrm>
            <a:off x="14789516" y="4678751"/>
            <a:ext cx="1830236" cy="3267595"/>
          </a:xfrm>
          <a:custGeom>
            <a:avLst/>
            <a:gdLst/>
            <a:ahLst/>
            <a:cxnLst/>
            <a:rect l="l" t="t" r="r" b="b"/>
            <a:pathLst>
              <a:path w="3199853" h="6629292">
                <a:moveTo>
                  <a:pt x="0" y="0"/>
                </a:moveTo>
                <a:lnTo>
                  <a:pt x="3199852" y="0"/>
                </a:lnTo>
                <a:lnTo>
                  <a:pt x="3199852" y="6629291"/>
                </a:lnTo>
                <a:lnTo>
                  <a:pt x="0" y="6629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6AA78351-AA5A-E461-3550-F9956747A898}"/>
              </a:ext>
            </a:extLst>
          </p:cNvPr>
          <p:cNvSpPr/>
          <p:nvPr/>
        </p:nvSpPr>
        <p:spPr>
          <a:xfrm>
            <a:off x="1003092" y="391449"/>
            <a:ext cx="4169775" cy="1157853"/>
          </a:xfrm>
          <a:custGeom>
            <a:avLst/>
            <a:gdLst/>
            <a:ahLst/>
            <a:cxnLst/>
            <a:rect l="l" t="t" r="r" b="b"/>
            <a:pathLst>
              <a:path w="4353832" h="1792306">
                <a:moveTo>
                  <a:pt x="0" y="0"/>
                </a:moveTo>
                <a:lnTo>
                  <a:pt x="4353831" y="0"/>
                </a:lnTo>
                <a:lnTo>
                  <a:pt x="4353831" y="1792306"/>
                </a:lnTo>
                <a:lnTo>
                  <a:pt x="0" y="179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775" t="-27597" r="-20621" b="-27594"/>
            </a:stretch>
          </a:blipFill>
        </p:spPr>
        <p:txBody>
          <a:bodyPr/>
          <a:lstStyle/>
          <a:p>
            <a:endParaRPr lang="en-US" sz="1389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4" descr="Graduate School Chimie | Université Paris-Saclay">
            <a:extLst>
              <a:ext uri="{FF2B5EF4-FFF2-40B4-BE49-F238E27FC236}">
                <a16:creationId xmlns:a16="http://schemas.microsoft.com/office/drawing/2014/main" id="{AEC77CE4-B4A0-1212-39B7-558D2FF3C5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8" t="22801" r="4238" b="5517"/>
          <a:stretch>
            <a:fillRect/>
          </a:stretch>
        </p:blipFill>
        <p:spPr bwMode="auto">
          <a:xfrm>
            <a:off x="8112897" y="391449"/>
            <a:ext cx="3288069" cy="115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9">
            <a:extLst>
              <a:ext uri="{FF2B5EF4-FFF2-40B4-BE49-F238E27FC236}">
                <a16:creationId xmlns:a16="http://schemas.microsoft.com/office/drawing/2014/main" id="{B9EDB0C1-9982-6095-EDA3-094BA6F08665}"/>
              </a:ext>
            </a:extLst>
          </p:cNvPr>
          <p:cNvSpPr txBox="1"/>
          <p:nvPr/>
        </p:nvSpPr>
        <p:spPr>
          <a:xfrm>
            <a:off x="7397817" y="2797745"/>
            <a:ext cx="349236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000" noProof="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Project Presentation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AEBF02A-9032-05F1-B512-EAA38416A781}"/>
              </a:ext>
            </a:extLst>
          </p:cNvPr>
          <p:cNvGrpSpPr/>
          <p:nvPr/>
        </p:nvGrpSpPr>
        <p:grpSpPr>
          <a:xfrm>
            <a:off x="5019008" y="2024974"/>
            <a:ext cx="8244527" cy="584582"/>
            <a:chOff x="3911471" y="2090394"/>
            <a:chExt cx="10465059" cy="762000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F0E02F90-3650-7BAD-EC31-B1761B88A380}"/>
                </a:ext>
              </a:extLst>
            </p:cNvPr>
            <p:cNvSpPr/>
            <p:nvPr/>
          </p:nvSpPr>
          <p:spPr>
            <a:xfrm>
              <a:off x="3975233" y="2090394"/>
              <a:ext cx="10337534" cy="762000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67F8D64F-F3FD-1DAF-8FB6-4686035437B0}"/>
                </a:ext>
              </a:extLst>
            </p:cNvPr>
            <p:cNvSpPr txBox="1"/>
            <p:nvPr/>
          </p:nvSpPr>
          <p:spPr>
            <a:xfrm>
              <a:off x="3911471" y="2248662"/>
              <a:ext cx="10465059" cy="4454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</a:pPr>
              <a:r>
                <a:rPr lang="en-US" sz="3500" b="1" noProof="0" dirty="0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DU </a:t>
              </a:r>
              <a:r>
                <a:rPr lang="en-US" sz="3500" b="1" noProof="0" dirty="0" err="1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Capteur</a:t>
              </a:r>
              <a:r>
                <a:rPr lang="en-US" sz="3500" b="1" noProof="0" dirty="0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et Innovation </a:t>
              </a:r>
              <a:r>
                <a:rPr lang="en-US" sz="3500" b="1" noProof="0" dirty="0" err="1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technologique</a:t>
              </a:r>
              <a:r>
                <a:rPr lang="en-US" sz="3500" b="1" noProof="0" dirty="0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4B15B452-602C-4319-FAAD-9B473A006917}"/>
              </a:ext>
            </a:extLst>
          </p:cNvPr>
          <p:cNvGrpSpPr/>
          <p:nvPr/>
        </p:nvGrpSpPr>
        <p:grpSpPr>
          <a:xfrm>
            <a:off x="8187469" y="9563100"/>
            <a:ext cx="1907611" cy="496501"/>
            <a:chOff x="7998387" y="9573494"/>
            <a:chExt cx="2364577" cy="609600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F96DF866-96B3-4897-A0DF-85153F0764FE}"/>
                </a:ext>
              </a:extLst>
            </p:cNvPr>
            <p:cNvSpPr/>
            <p:nvPr/>
          </p:nvSpPr>
          <p:spPr>
            <a:xfrm>
              <a:off x="7998387" y="9573494"/>
              <a:ext cx="2364577" cy="609600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3DCB20A5-6E4E-F9C6-D9B5-B93511900534}"/>
                </a:ext>
              </a:extLst>
            </p:cNvPr>
            <p:cNvSpPr txBox="1"/>
            <p:nvPr/>
          </p:nvSpPr>
          <p:spPr>
            <a:xfrm>
              <a:off x="8208530" y="9670545"/>
              <a:ext cx="1944290" cy="3847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98"/>
                </a:spcAft>
              </a:pPr>
              <a:r>
                <a:rPr lang="en-US" sz="2500" noProof="0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2025 - 2026</a:t>
              </a:r>
            </a:p>
          </p:txBody>
        </p:sp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871A853-05A8-783A-EB2C-F03591A6E254}"/>
              </a:ext>
            </a:extLst>
          </p:cNvPr>
          <p:cNvSpPr/>
          <p:nvPr/>
        </p:nvSpPr>
        <p:spPr>
          <a:xfrm>
            <a:off x="8080465" y="3459233"/>
            <a:ext cx="2127071" cy="90437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14D9B8AF-1405-F714-671E-3DE718F244FC}"/>
              </a:ext>
            </a:extLst>
          </p:cNvPr>
          <p:cNvSpPr/>
          <p:nvPr/>
        </p:nvSpPr>
        <p:spPr>
          <a:xfrm>
            <a:off x="1392947" y="7882796"/>
            <a:ext cx="3965128" cy="1978493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BC10A773-FA16-8D1E-BBEE-4880805970F2}"/>
              </a:ext>
            </a:extLst>
          </p:cNvPr>
          <p:cNvSpPr txBox="1"/>
          <p:nvPr/>
        </p:nvSpPr>
        <p:spPr>
          <a:xfrm>
            <a:off x="8159816" y="3565170"/>
            <a:ext cx="1968368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500" b="1" noProof="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Topic : 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B8CFE753-3512-2E77-A97D-EC606B182A7F}"/>
              </a:ext>
            </a:extLst>
          </p:cNvPr>
          <p:cNvSpPr/>
          <p:nvPr/>
        </p:nvSpPr>
        <p:spPr>
          <a:xfrm>
            <a:off x="13417394" y="7882796"/>
            <a:ext cx="3965128" cy="1978493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872ADD92-7ED1-FBE7-3C19-528051BC72CF}"/>
              </a:ext>
            </a:extLst>
          </p:cNvPr>
          <p:cNvSpPr txBox="1"/>
          <p:nvPr/>
        </p:nvSpPr>
        <p:spPr>
          <a:xfrm>
            <a:off x="1668246" y="8007179"/>
            <a:ext cx="3414531" cy="46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0"/>
              </a:lnSpc>
            </a:pPr>
            <a:r>
              <a:rPr lang="en-US" sz="2976" b="1" noProof="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Presented by :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2A48CA75-4E99-16FF-71C3-4911C98C3741}"/>
              </a:ext>
            </a:extLst>
          </p:cNvPr>
          <p:cNvSpPr txBox="1"/>
          <p:nvPr/>
        </p:nvSpPr>
        <p:spPr>
          <a:xfrm>
            <a:off x="1578158" y="8536806"/>
            <a:ext cx="3594709" cy="121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MUSHTAQ Aqib </a:t>
            </a:r>
            <a:endParaRPr lang="en-US" sz="2800" noProof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2800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MAIGA Yahiya Abdou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C931BDAE-1FD7-BEF9-FB3B-72C0DC3DD863}"/>
              </a:ext>
            </a:extLst>
          </p:cNvPr>
          <p:cNvSpPr txBox="1"/>
          <p:nvPr/>
        </p:nvSpPr>
        <p:spPr>
          <a:xfrm>
            <a:off x="14478000" y="8007179"/>
            <a:ext cx="1830236" cy="464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0"/>
              </a:lnSpc>
            </a:pPr>
            <a:r>
              <a:rPr lang="en-US" sz="2976" b="1" noProof="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Tutors :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1CCDCF10-2F72-0AD1-870B-76481F505860}"/>
              </a:ext>
            </a:extLst>
          </p:cNvPr>
          <p:cNvSpPr txBox="1"/>
          <p:nvPr/>
        </p:nvSpPr>
        <p:spPr>
          <a:xfrm>
            <a:off x="13497407" y="8536806"/>
            <a:ext cx="3594709" cy="121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LOISON Pierre</a:t>
            </a:r>
          </a:p>
          <a:p>
            <a:pPr algn="ctr">
              <a:lnSpc>
                <a:spcPct val="150000"/>
              </a:lnSpc>
            </a:pPr>
            <a:r>
              <a:rPr lang="en-US" sz="2800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CANNIZZO Caroline</a:t>
            </a: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E14DB30E-A278-2394-7140-0285395B5C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39249" y="393027"/>
            <a:ext cx="2886936" cy="11546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CD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2679" y="4076700"/>
            <a:ext cx="8666135" cy="3124200"/>
            <a:chOff x="0" y="0"/>
            <a:chExt cx="3585890" cy="13178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5890" cy="1317812"/>
            </a:xfrm>
            <a:custGeom>
              <a:avLst/>
              <a:gdLst/>
              <a:ahLst/>
              <a:cxnLst/>
              <a:rect l="l" t="t" r="r" b="b"/>
              <a:pathLst>
                <a:path w="3585890" h="1317812">
                  <a:moveTo>
                    <a:pt x="27350" y="0"/>
                  </a:moveTo>
                  <a:lnTo>
                    <a:pt x="3558541" y="0"/>
                  </a:lnTo>
                  <a:cubicBezTo>
                    <a:pt x="3573645" y="0"/>
                    <a:pt x="3585890" y="12245"/>
                    <a:pt x="3585890" y="27350"/>
                  </a:cubicBezTo>
                  <a:lnTo>
                    <a:pt x="3585890" y="1290462"/>
                  </a:lnTo>
                  <a:cubicBezTo>
                    <a:pt x="3585890" y="1297716"/>
                    <a:pt x="3583008" y="1304672"/>
                    <a:pt x="3577880" y="1309801"/>
                  </a:cubicBezTo>
                  <a:cubicBezTo>
                    <a:pt x="3572751" y="1314930"/>
                    <a:pt x="3565794" y="1317812"/>
                    <a:pt x="3558541" y="1317812"/>
                  </a:cubicBezTo>
                  <a:lnTo>
                    <a:pt x="27350" y="1317812"/>
                  </a:lnTo>
                  <a:cubicBezTo>
                    <a:pt x="20096" y="1317812"/>
                    <a:pt x="13140" y="1314930"/>
                    <a:pt x="8011" y="1309801"/>
                  </a:cubicBezTo>
                  <a:cubicBezTo>
                    <a:pt x="2881" y="1304672"/>
                    <a:pt x="0" y="1297716"/>
                    <a:pt x="0" y="1290462"/>
                  </a:cubicBezTo>
                  <a:lnTo>
                    <a:pt x="0" y="27350"/>
                  </a:lnTo>
                  <a:cubicBezTo>
                    <a:pt x="0" y="20096"/>
                    <a:pt x="2881" y="13140"/>
                    <a:pt x="8011" y="8011"/>
                  </a:cubicBezTo>
                  <a:cubicBezTo>
                    <a:pt x="13140" y="2881"/>
                    <a:pt x="20096" y="0"/>
                    <a:pt x="27350" y="0"/>
                  </a:cubicBezTo>
                  <a:close/>
                </a:path>
              </a:pathLst>
            </a:custGeom>
            <a:solidFill>
              <a:srgbClr val="055E6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85890" cy="1355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lang="en-US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84763" y="4371286"/>
            <a:ext cx="7841966" cy="2326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sz="3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</a:t>
            </a:r>
            <a:r>
              <a:rPr lang="fr-FR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instrument</a:t>
            </a:r>
          </a:p>
          <a:p>
            <a:pPr marL="685800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uses visible light to enlarge objects of very small dimensions</a:t>
            </a:r>
            <a:endParaRPr lang="fr-FR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68;p14">
            <a:extLst>
              <a:ext uri="{FF2B5EF4-FFF2-40B4-BE49-F238E27FC236}">
                <a16:creationId xmlns:a16="http://schemas.microsoft.com/office/drawing/2014/main" id="{F1258EC5-43E8-5F98-BC16-B8326D9627EE}"/>
              </a:ext>
            </a:extLst>
          </p:cNvPr>
          <p:cNvSpPr/>
          <p:nvPr/>
        </p:nvSpPr>
        <p:spPr>
          <a:xfrm>
            <a:off x="749379" y="276368"/>
            <a:ext cx="2086695" cy="634991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sp>
        <p:nvSpPr>
          <p:cNvPr id="8" name="Google Shape;69;p14">
            <a:extLst>
              <a:ext uri="{FF2B5EF4-FFF2-40B4-BE49-F238E27FC236}">
                <a16:creationId xmlns:a16="http://schemas.microsoft.com/office/drawing/2014/main" id="{C9E229CD-8964-BFAD-0DBC-5A1462C7E8E0}"/>
              </a:ext>
            </a:extLst>
          </p:cNvPr>
          <p:cNvSpPr/>
          <p:nvPr/>
        </p:nvSpPr>
        <p:spPr>
          <a:xfrm>
            <a:off x="2836074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</a:p>
        </p:txBody>
      </p:sp>
      <p:sp>
        <p:nvSpPr>
          <p:cNvPr id="9" name="Google Shape;70;p14">
            <a:extLst>
              <a:ext uri="{FF2B5EF4-FFF2-40B4-BE49-F238E27FC236}">
                <a16:creationId xmlns:a16="http://schemas.microsoft.com/office/drawing/2014/main" id="{9CF8F25C-BBCE-D30F-B748-36833CB6862F}"/>
              </a:ext>
            </a:extLst>
          </p:cNvPr>
          <p:cNvSpPr/>
          <p:nvPr/>
        </p:nvSpPr>
        <p:spPr>
          <a:xfrm>
            <a:off x="4789183" y="277106"/>
            <a:ext cx="4595214" cy="633515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dirty="0">
                <a:latin typeface="Times New Roman"/>
                <a:ea typeface="Times New Roman"/>
                <a:cs typeface="Times New Roman"/>
                <a:sym typeface="Times New Roman"/>
              </a:rPr>
              <a:t>Means &amp; Needing</a:t>
            </a:r>
            <a:endParaRPr lang="en-US" sz="38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71;p14">
            <a:extLst>
              <a:ext uri="{FF2B5EF4-FFF2-40B4-BE49-F238E27FC236}">
                <a16:creationId xmlns:a16="http://schemas.microsoft.com/office/drawing/2014/main" id="{8F380A57-E972-7CDD-0026-2CE3966EB56C}"/>
              </a:ext>
            </a:extLst>
          </p:cNvPr>
          <p:cNvSpPr/>
          <p:nvPr/>
        </p:nvSpPr>
        <p:spPr>
          <a:xfrm>
            <a:off x="9367502" y="276368"/>
            <a:ext cx="3474408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</p:txBody>
      </p:sp>
      <p:sp>
        <p:nvSpPr>
          <p:cNvPr id="11" name="Google Shape;71;p14">
            <a:extLst>
              <a:ext uri="{FF2B5EF4-FFF2-40B4-BE49-F238E27FC236}">
                <a16:creationId xmlns:a16="http://schemas.microsoft.com/office/drawing/2014/main" id="{1EEB4934-4F93-E861-2DEC-EFFE02D031B4}"/>
              </a:ext>
            </a:extLst>
          </p:cNvPr>
          <p:cNvSpPr/>
          <p:nvPr/>
        </p:nvSpPr>
        <p:spPr>
          <a:xfrm>
            <a:off x="12841910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E322910-8BC8-47E7-EBB5-770C6338232C}"/>
              </a:ext>
            </a:extLst>
          </p:cNvPr>
          <p:cNvSpPr/>
          <p:nvPr/>
        </p:nvSpPr>
        <p:spPr>
          <a:xfrm>
            <a:off x="457134" y="1823291"/>
            <a:ext cx="7687560" cy="90437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4140830C-3D6C-0656-B0F5-D78A4A409BD1}"/>
              </a:ext>
            </a:extLst>
          </p:cNvPr>
          <p:cNvSpPr txBox="1"/>
          <p:nvPr/>
        </p:nvSpPr>
        <p:spPr>
          <a:xfrm>
            <a:off x="606789" y="2006171"/>
            <a:ext cx="738825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What is an optical microscope ?</a:t>
            </a:r>
            <a:r>
              <a:rPr lang="en-US" sz="3500" noProof="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632EBA74-9320-3076-5359-17F8F6FF5840}"/>
              </a:ext>
            </a:extLst>
          </p:cNvPr>
          <p:cNvGrpSpPr/>
          <p:nvPr/>
        </p:nvGrpSpPr>
        <p:grpSpPr>
          <a:xfrm>
            <a:off x="9732935" y="2019300"/>
            <a:ext cx="7788626" cy="7288206"/>
            <a:chOff x="9152732" y="1409700"/>
            <a:chExt cx="6799040" cy="6167240"/>
          </a:xfrm>
        </p:grpSpPr>
        <p:pic>
          <p:nvPicPr>
            <p:cNvPr id="1026" name="Picture 2" descr="Le microscope optique : cours - Prof Innovant">
              <a:extLst>
                <a:ext uri="{FF2B5EF4-FFF2-40B4-BE49-F238E27FC236}">
                  <a16:creationId xmlns:a16="http://schemas.microsoft.com/office/drawing/2014/main" id="{18CC1443-AFE9-D553-AD78-B9FAD2E7C4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33" t="2745" r="3206" b="4592"/>
            <a:stretch>
              <a:fillRect/>
            </a:stretch>
          </p:blipFill>
          <p:spPr bwMode="auto">
            <a:xfrm>
              <a:off x="9152732" y="1409700"/>
              <a:ext cx="6799040" cy="5305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2EBB0D3B-8E30-3295-47C7-361C4526E76E}"/>
                </a:ext>
              </a:extLst>
            </p:cNvPr>
            <p:cNvSpPr txBox="1"/>
            <p:nvPr/>
          </p:nvSpPr>
          <p:spPr>
            <a:xfrm>
              <a:off x="9518540" y="6715166"/>
              <a:ext cx="6067424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 : </a:t>
              </a:r>
              <a:r>
                <a:rPr lang="fr-FR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Description du microscope optique (®</a:t>
              </a:r>
              <a:r>
                <a:rPr lang="fr-FR" sz="2500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Prof Innovant</a:t>
              </a:r>
              <a:r>
                <a:rPr lang="fr-FR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21" name="Google Shape;71;p14">
            <a:extLst>
              <a:ext uri="{FF2B5EF4-FFF2-40B4-BE49-F238E27FC236}">
                <a16:creationId xmlns:a16="http://schemas.microsoft.com/office/drawing/2014/main" id="{AF0763B8-AD3C-9BDA-4042-5C3A0B0A4BF7}"/>
              </a:ext>
            </a:extLst>
          </p:cNvPr>
          <p:cNvSpPr/>
          <p:nvPr/>
        </p:nvSpPr>
        <p:spPr>
          <a:xfrm>
            <a:off x="14795019" y="276368"/>
            <a:ext cx="2743200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CDD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F8688-1D5A-CC29-BBF2-F11D4D98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6E8E7C-A88C-BEB9-B344-A2D8D88A6357}"/>
              </a:ext>
            </a:extLst>
          </p:cNvPr>
          <p:cNvGrpSpPr/>
          <p:nvPr/>
        </p:nvGrpSpPr>
        <p:grpSpPr>
          <a:xfrm>
            <a:off x="304800" y="3048398"/>
            <a:ext cx="10059485" cy="6972300"/>
            <a:chOff x="0" y="0"/>
            <a:chExt cx="3585890" cy="131781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AC31C1-572D-7969-9C04-FE53F39EB1A7}"/>
                </a:ext>
              </a:extLst>
            </p:cNvPr>
            <p:cNvSpPr/>
            <p:nvPr/>
          </p:nvSpPr>
          <p:spPr>
            <a:xfrm>
              <a:off x="0" y="0"/>
              <a:ext cx="3585890" cy="1317812"/>
            </a:xfrm>
            <a:custGeom>
              <a:avLst/>
              <a:gdLst/>
              <a:ahLst/>
              <a:cxnLst/>
              <a:rect l="l" t="t" r="r" b="b"/>
              <a:pathLst>
                <a:path w="3585890" h="1317812">
                  <a:moveTo>
                    <a:pt x="27350" y="0"/>
                  </a:moveTo>
                  <a:lnTo>
                    <a:pt x="3558541" y="0"/>
                  </a:lnTo>
                  <a:cubicBezTo>
                    <a:pt x="3573645" y="0"/>
                    <a:pt x="3585890" y="12245"/>
                    <a:pt x="3585890" y="27350"/>
                  </a:cubicBezTo>
                  <a:lnTo>
                    <a:pt x="3585890" y="1290462"/>
                  </a:lnTo>
                  <a:cubicBezTo>
                    <a:pt x="3585890" y="1297716"/>
                    <a:pt x="3583008" y="1304672"/>
                    <a:pt x="3577880" y="1309801"/>
                  </a:cubicBezTo>
                  <a:cubicBezTo>
                    <a:pt x="3572751" y="1314930"/>
                    <a:pt x="3565794" y="1317812"/>
                    <a:pt x="3558541" y="1317812"/>
                  </a:cubicBezTo>
                  <a:lnTo>
                    <a:pt x="27350" y="1317812"/>
                  </a:lnTo>
                  <a:cubicBezTo>
                    <a:pt x="20096" y="1317812"/>
                    <a:pt x="13140" y="1314930"/>
                    <a:pt x="8011" y="1309801"/>
                  </a:cubicBezTo>
                  <a:cubicBezTo>
                    <a:pt x="2881" y="1304672"/>
                    <a:pt x="0" y="1297716"/>
                    <a:pt x="0" y="1290462"/>
                  </a:cubicBezTo>
                  <a:lnTo>
                    <a:pt x="0" y="27350"/>
                  </a:lnTo>
                  <a:cubicBezTo>
                    <a:pt x="0" y="20096"/>
                    <a:pt x="2881" y="13140"/>
                    <a:pt x="8011" y="8011"/>
                  </a:cubicBezTo>
                  <a:cubicBezTo>
                    <a:pt x="13140" y="2881"/>
                    <a:pt x="20096" y="0"/>
                    <a:pt x="27350" y="0"/>
                  </a:cubicBezTo>
                  <a:close/>
                </a:path>
              </a:pathLst>
            </a:custGeom>
            <a:solidFill>
              <a:srgbClr val="055E6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8349648-7E28-D83B-B7AF-E68B14F49E17}"/>
                </a:ext>
              </a:extLst>
            </p:cNvPr>
            <p:cNvSpPr txBox="1"/>
            <p:nvPr/>
          </p:nvSpPr>
          <p:spPr>
            <a:xfrm>
              <a:off x="0" y="-38100"/>
              <a:ext cx="3585890" cy="1355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lang="en-US" noProof="0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EBB5D30-FCFC-433D-A6E4-E8E8DAA7A986}"/>
              </a:ext>
            </a:extLst>
          </p:cNvPr>
          <p:cNvSpPr txBox="1"/>
          <p:nvPr/>
        </p:nvSpPr>
        <p:spPr>
          <a:xfrm>
            <a:off x="911783" y="3324647"/>
            <a:ext cx="9031668" cy="636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printable </a:t>
            </a: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microscope, </a:t>
            </a:r>
          </a:p>
          <a:p>
            <a:pPr algn="just">
              <a:lnSpc>
                <a:spcPct val="150000"/>
              </a:lnSpc>
            </a:pP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</a:t>
            </a: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democratize access to high-resolution scientific imaging</a:t>
            </a: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through a modular, low-cost and customizable design.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mechanical precision,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adaptability,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its increasing adoption in educational, research, and medical diagnostic contexts</a:t>
            </a:r>
            <a:endParaRPr lang="fr-FR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4F9CE8A-FEA0-62B1-2C94-54E9F9D8AE82}"/>
              </a:ext>
            </a:extLst>
          </p:cNvPr>
          <p:cNvSpPr/>
          <p:nvPr/>
        </p:nvSpPr>
        <p:spPr>
          <a:xfrm>
            <a:off x="708436" y="1191711"/>
            <a:ext cx="9655849" cy="1437189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C18258B1-D3F2-B944-9657-5CC38ABD47F7}"/>
              </a:ext>
            </a:extLst>
          </p:cNvPr>
          <p:cNvSpPr txBox="1"/>
          <p:nvPr/>
        </p:nvSpPr>
        <p:spPr>
          <a:xfrm>
            <a:off x="787785" y="1344111"/>
            <a:ext cx="9397993" cy="1092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The open flexure microscope </a:t>
            </a:r>
            <a:r>
              <a:rPr lang="fr-FR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(Collins et al., 2019 ; </a:t>
            </a:r>
            <a:r>
              <a:rPr lang="fr-FR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Sharkey</a:t>
            </a:r>
            <a:r>
              <a:rPr lang="fr-FR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2016)</a:t>
            </a:r>
            <a:endParaRPr 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DE1D1C0-F803-E39A-A436-FAC4854D2D6C}"/>
              </a:ext>
            </a:extLst>
          </p:cNvPr>
          <p:cNvGrpSpPr/>
          <p:nvPr/>
        </p:nvGrpSpPr>
        <p:grpSpPr>
          <a:xfrm>
            <a:off x="11003592" y="1817771"/>
            <a:ext cx="6423461" cy="7120864"/>
            <a:chOff x="12577273" y="3311288"/>
            <a:chExt cx="5140276" cy="6465549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CCBD2122-64DD-FC70-82A8-B890701BF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77273" y="3311288"/>
              <a:ext cx="5140276" cy="6032397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05A78AE-FD15-9960-9D19-3689DBCF7E84}"/>
                </a:ext>
              </a:extLst>
            </p:cNvPr>
            <p:cNvSpPr txBox="1"/>
            <p:nvPr/>
          </p:nvSpPr>
          <p:spPr>
            <a:xfrm>
              <a:off x="12634947" y="9343685"/>
              <a:ext cx="5024927" cy="433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2 : </a:t>
              </a:r>
              <a:r>
                <a:rPr lang="fr-FR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Open flexure microscope (®</a:t>
              </a:r>
              <a:r>
                <a:rPr lang="fr-FR" sz="2500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OFM</a:t>
              </a:r>
              <a:r>
                <a:rPr lang="fr-FR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6" name="Google Shape;68;p14">
            <a:extLst>
              <a:ext uri="{FF2B5EF4-FFF2-40B4-BE49-F238E27FC236}">
                <a16:creationId xmlns:a16="http://schemas.microsoft.com/office/drawing/2014/main" id="{A54D64D0-7C0C-C9EE-65C9-6ED61A764781}"/>
              </a:ext>
            </a:extLst>
          </p:cNvPr>
          <p:cNvSpPr/>
          <p:nvPr/>
        </p:nvSpPr>
        <p:spPr>
          <a:xfrm>
            <a:off x="749379" y="276368"/>
            <a:ext cx="2086695" cy="634991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sp>
        <p:nvSpPr>
          <p:cNvPr id="12" name="Google Shape;69;p14">
            <a:extLst>
              <a:ext uri="{FF2B5EF4-FFF2-40B4-BE49-F238E27FC236}">
                <a16:creationId xmlns:a16="http://schemas.microsoft.com/office/drawing/2014/main" id="{0EC20625-C61A-2BA7-004B-8DF4DBDDE5E4}"/>
              </a:ext>
            </a:extLst>
          </p:cNvPr>
          <p:cNvSpPr/>
          <p:nvPr/>
        </p:nvSpPr>
        <p:spPr>
          <a:xfrm>
            <a:off x="2836074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</a:p>
        </p:txBody>
      </p:sp>
      <p:sp>
        <p:nvSpPr>
          <p:cNvPr id="16" name="Google Shape;70;p14">
            <a:extLst>
              <a:ext uri="{FF2B5EF4-FFF2-40B4-BE49-F238E27FC236}">
                <a16:creationId xmlns:a16="http://schemas.microsoft.com/office/drawing/2014/main" id="{C605B80B-AC6F-2F53-5EB7-FE78F6128C00}"/>
              </a:ext>
            </a:extLst>
          </p:cNvPr>
          <p:cNvSpPr/>
          <p:nvPr/>
        </p:nvSpPr>
        <p:spPr>
          <a:xfrm>
            <a:off x="4789183" y="277106"/>
            <a:ext cx="4595214" cy="633515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dirty="0">
                <a:latin typeface="Times New Roman"/>
                <a:ea typeface="Times New Roman"/>
                <a:cs typeface="Times New Roman"/>
                <a:sym typeface="Times New Roman"/>
              </a:rPr>
              <a:t>Means &amp; Needing</a:t>
            </a:r>
            <a:endParaRPr lang="en-US" sz="38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71;p14">
            <a:extLst>
              <a:ext uri="{FF2B5EF4-FFF2-40B4-BE49-F238E27FC236}">
                <a16:creationId xmlns:a16="http://schemas.microsoft.com/office/drawing/2014/main" id="{D411CECE-F1B2-DCF2-6FBD-590812B94C3D}"/>
              </a:ext>
            </a:extLst>
          </p:cNvPr>
          <p:cNvSpPr/>
          <p:nvPr/>
        </p:nvSpPr>
        <p:spPr>
          <a:xfrm>
            <a:off x="9367502" y="276368"/>
            <a:ext cx="3474408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</p:txBody>
      </p:sp>
      <p:sp>
        <p:nvSpPr>
          <p:cNvPr id="22" name="Google Shape;71;p14">
            <a:extLst>
              <a:ext uri="{FF2B5EF4-FFF2-40B4-BE49-F238E27FC236}">
                <a16:creationId xmlns:a16="http://schemas.microsoft.com/office/drawing/2014/main" id="{FFC81DF3-E0B4-78B1-3419-0B780F1611F7}"/>
              </a:ext>
            </a:extLst>
          </p:cNvPr>
          <p:cNvSpPr/>
          <p:nvPr/>
        </p:nvSpPr>
        <p:spPr>
          <a:xfrm>
            <a:off x="12841910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sp>
        <p:nvSpPr>
          <p:cNvPr id="23" name="Google Shape;71;p14">
            <a:extLst>
              <a:ext uri="{FF2B5EF4-FFF2-40B4-BE49-F238E27FC236}">
                <a16:creationId xmlns:a16="http://schemas.microsoft.com/office/drawing/2014/main" id="{4C0C8964-4791-A080-2510-6A5545F09412}"/>
              </a:ext>
            </a:extLst>
          </p:cNvPr>
          <p:cNvSpPr/>
          <p:nvPr/>
        </p:nvSpPr>
        <p:spPr>
          <a:xfrm>
            <a:off x="14795019" y="276368"/>
            <a:ext cx="2743200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117779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2267" y="1520325"/>
            <a:ext cx="14587945" cy="7246349"/>
            <a:chOff x="0" y="0"/>
            <a:chExt cx="3467286" cy="8743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7286" cy="874352"/>
            </a:xfrm>
            <a:custGeom>
              <a:avLst/>
              <a:gdLst/>
              <a:ahLst/>
              <a:cxnLst/>
              <a:rect l="l" t="t" r="r" b="b"/>
              <a:pathLst>
                <a:path w="3467286" h="874352">
                  <a:moveTo>
                    <a:pt x="29992" y="0"/>
                  </a:moveTo>
                  <a:lnTo>
                    <a:pt x="3437294" y="0"/>
                  </a:lnTo>
                  <a:cubicBezTo>
                    <a:pt x="3445248" y="0"/>
                    <a:pt x="3452877" y="3160"/>
                    <a:pt x="3458501" y="8784"/>
                  </a:cubicBezTo>
                  <a:cubicBezTo>
                    <a:pt x="3464126" y="14409"/>
                    <a:pt x="3467286" y="22038"/>
                    <a:pt x="3467286" y="29992"/>
                  </a:cubicBezTo>
                  <a:lnTo>
                    <a:pt x="3467286" y="844360"/>
                  </a:lnTo>
                  <a:cubicBezTo>
                    <a:pt x="3467286" y="852315"/>
                    <a:pt x="3464126" y="859943"/>
                    <a:pt x="3458501" y="865568"/>
                  </a:cubicBezTo>
                  <a:cubicBezTo>
                    <a:pt x="3452877" y="871192"/>
                    <a:pt x="3445248" y="874352"/>
                    <a:pt x="3437294" y="874352"/>
                  </a:cubicBezTo>
                  <a:lnTo>
                    <a:pt x="29992" y="874352"/>
                  </a:lnTo>
                  <a:cubicBezTo>
                    <a:pt x="22038" y="874352"/>
                    <a:pt x="14409" y="871192"/>
                    <a:pt x="8784" y="865568"/>
                  </a:cubicBezTo>
                  <a:cubicBezTo>
                    <a:pt x="3160" y="859943"/>
                    <a:pt x="0" y="852315"/>
                    <a:pt x="0" y="844360"/>
                  </a:cubicBezTo>
                  <a:lnTo>
                    <a:pt x="0" y="29992"/>
                  </a:lnTo>
                  <a:cubicBezTo>
                    <a:pt x="0" y="22038"/>
                    <a:pt x="3160" y="14409"/>
                    <a:pt x="8784" y="8784"/>
                  </a:cubicBezTo>
                  <a:cubicBezTo>
                    <a:pt x="14409" y="3160"/>
                    <a:pt x="22038" y="0"/>
                    <a:pt x="2999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67286" cy="912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lang="en-US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62048" y="2117318"/>
            <a:ext cx="14048382" cy="6052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3227" indent="-410214" algn="just">
              <a:lnSpc>
                <a:spcPts val="5320"/>
              </a:lnSpc>
              <a:buFont typeface="Arial"/>
              <a:buChar char="•"/>
            </a:pPr>
            <a:r>
              <a:rPr lang="en-US" sz="3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operation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 optical sensor and the associated physical principles </a:t>
            </a:r>
          </a:p>
          <a:p>
            <a:pPr marL="363227" indent="-410214" algn="just">
              <a:lnSpc>
                <a:spcPts val="5320"/>
              </a:lnSpc>
              <a:buFont typeface="Arial"/>
              <a:buChar char="•"/>
            </a:pPr>
            <a:r>
              <a:rPr lang="en-US" sz="3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design, assemble and calibrate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instrument from accessible and 3D-printable components;</a:t>
            </a:r>
          </a:p>
          <a:p>
            <a:pPr marL="363227" indent="-410214" algn="just">
              <a:lnSpc>
                <a:spcPts val="5320"/>
              </a:lnSpc>
              <a:buFont typeface="Arial"/>
              <a:buChar char="•"/>
            </a:pPr>
            <a:r>
              <a:rPr lang="en-US" sz="3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and validate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measurement performance (stability, precision, image quality);</a:t>
            </a:r>
          </a:p>
          <a:p>
            <a:pPr marL="363227" indent="-410214" algn="just">
              <a:lnSpc>
                <a:spcPts val="5320"/>
              </a:lnSpc>
              <a:buFont typeface="Arial"/>
              <a:buChar char="•"/>
            </a:pPr>
            <a:r>
              <a:rPr lang="en-US" sz="3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concretely apply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concepts of sensors to a real instrument, in connection with experimental or environmental needs;</a:t>
            </a:r>
          </a:p>
          <a:p>
            <a:pPr marL="363227" indent="-410214" algn="just">
              <a:lnSpc>
                <a:spcPts val="5320"/>
              </a:lnSpc>
              <a:buFont typeface="Arial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an </a:t>
            </a:r>
            <a:r>
              <a:rPr lang="en-US" sz="3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inexpensive, reliable and reproducible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device.</a:t>
            </a:r>
            <a:endParaRPr lang="en-US" sz="3500" spc="140" noProof="0" dirty="0">
              <a:solidFill>
                <a:srgbClr val="FF0000"/>
              </a:solidFill>
              <a:latin typeface="Times New Roman" panose="02020603050405020304" pitchFamily="18" charset="0"/>
              <a:ea typeface="Akzidenz-Grotesk"/>
              <a:cs typeface="Times New Roman" panose="02020603050405020304" pitchFamily="18" charset="0"/>
              <a:sym typeface="Akzidenz-Grotesk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3446720" y="7840125"/>
            <a:ext cx="2451689" cy="1929717"/>
          </a:xfrm>
          <a:custGeom>
            <a:avLst/>
            <a:gdLst/>
            <a:ahLst/>
            <a:cxnLst/>
            <a:rect l="l" t="t" r="r" b="b"/>
            <a:pathLst>
              <a:path w="2451689" h="1929717">
                <a:moveTo>
                  <a:pt x="0" y="0"/>
                </a:moveTo>
                <a:lnTo>
                  <a:pt x="2451689" y="0"/>
                </a:lnTo>
                <a:lnTo>
                  <a:pt x="2451689" y="1929716"/>
                </a:lnTo>
                <a:lnTo>
                  <a:pt x="0" y="1929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 dirty="0"/>
          </a:p>
        </p:txBody>
      </p:sp>
      <p:sp>
        <p:nvSpPr>
          <p:cNvPr id="7" name="Freeform 7"/>
          <p:cNvSpPr/>
          <p:nvPr/>
        </p:nvSpPr>
        <p:spPr>
          <a:xfrm>
            <a:off x="16153503" y="4305300"/>
            <a:ext cx="1220993" cy="5464542"/>
          </a:xfrm>
          <a:custGeom>
            <a:avLst/>
            <a:gdLst/>
            <a:ahLst/>
            <a:cxnLst/>
            <a:rect l="l" t="t" r="r" b="b"/>
            <a:pathLst>
              <a:path w="1220993" h="5464542">
                <a:moveTo>
                  <a:pt x="0" y="0"/>
                </a:moveTo>
                <a:lnTo>
                  <a:pt x="1220993" y="0"/>
                </a:lnTo>
                <a:lnTo>
                  <a:pt x="1220993" y="5464541"/>
                </a:lnTo>
                <a:lnTo>
                  <a:pt x="0" y="546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Google Shape;68;p14">
            <a:extLst>
              <a:ext uri="{FF2B5EF4-FFF2-40B4-BE49-F238E27FC236}">
                <a16:creationId xmlns:a16="http://schemas.microsoft.com/office/drawing/2014/main" id="{C4F67CC5-AAFB-D236-F436-7595C58D83CD}"/>
              </a:ext>
            </a:extLst>
          </p:cNvPr>
          <p:cNvSpPr/>
          <p:nvPr/>
        </p:nvSpPr>
        <p:spPr>
          <a:xfrm>
            <a:off x="749379" y="276368"/>
            <a:ext cx="2086695" cy="634991"/>
          </a:xfrm>
          <a:prstGeom prst="homePlate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762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sp>
        <p:nvSpPr>
          <p:cNvPr id="16" name="Google Shape;69;p14">
            <a:extLst>
              <a:ext uri="{FF2B5EF4-FFF2-40B4-BE49-F238E27FC236}">
                <a16:creationId xmlns:a16="http://schemas.microsoft.com/office/drawing/2014/main" id="{1E5FAB91-16A7-9A4F-C0D8-75A7A8B006EA}"/>
              </a:ext>
            </a:extLst>
          </p:cNvPr>
          <p:cNvSpPr/>
          <p:nvPr/>
        </p:nvSpPr>
        <p:spPr>
          <a:xfrm>
            <a:off x="2836074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</a:p>
        </p:txBody>
      </p:sp>
      <p:sp>
        <p:nvSpPr>
          <p:cNvPr id="17" name="Google Shape;70;p14">
            <a:extLst>
              <a:ext uri="{FF2B5EF4-FFF2-40B4-BE49-F238E27FC236}">
                <a16:creationId xmlns:a16="http://schemas.microsoft.com/office/drawing/2014/main" id="{9D22DA4D-7251-9F36-FA3E-88ACE211FEB3}"/>
              </a:ext>
            </a:extLst>
          </p:cNvPr>
          <p:cNvSpPr/>
          <p:nvPr/>
        </p:nvSpPr>
        <p:spPr>
          <a:xfrm>
            <a:off x="4789183" y="277106"/>
            <a:ext cx="4595214" cy="633515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dirty="0">
                <a:latin typeface="Times New Roman"/>
                <a:ea typeface="Times New Roman"/>
                <a:cs typeface="Times New Roman"/>
                <a:sym typeface="Times New Roman"/>
              </a:rPr>
              <a:t>Means &amp; Needing</a:t>
            </a:r>
            <a:endParaRPr lang="en-US" sz="38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C9D3D84E-69B5-24A9-46C3-17CB1A2059B9}"/>
              </a:ext>
            </a:extLst>
          </p:cNvPr>
          <p:cNvSpPr/>
          <p:nvPr/>
        </p:nvSpPr>
        <p:spPr>
          <a:xfrm>
            <a:off x="9367502" y="276368"/>
            <a:ext cx="3474408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</p:txBody>
      </p:sp>
      <p:sp>
        <p:nvSpPr>
          <p:cNvPr id="19" name="Google Shape;71;p14">
            <a:extLst>
              <a:ext uri="{FF2B5EF4-FFF2-40B4-BE49-F238E27FC236}">
                <a16:creationId xmlns:a16="http://schemas.microsoft.com/office/drawing/2014/main" id="{7428CD6F-7143-3704-1E1B-1D96FE83DF87}"/>
              </a:ext>
            </a:extLst>
          </p:cNvPr>
          <p:cNvSpPr/>
          <p:nvPr/>
        </p:nvSpPr>
        <p:spPr>
          <a:xfrm>
            <a:off x="12841910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sp>
        <p:nvSpPr>
          <p:cNvPr id="20" name="Google Shape;71;p14">
            <a:extLst>
              <a:ext uri="{FF2B5EF4-FFF2-40B4-BE49-F238E27FC236}">
                <a16:creationId xmlns:a16="http://schemas.microsoft.com/office/drawing/2014/main" id="{D1C39460-5097-5B88-3EF1-7D1C7891353A}"/>
              </a:ext>
            </a:extLst>
          </p:cNvPr>
          <p:cNvSpPr/>
          <p:nvPr/>
        </p:nvSpPr>
        <p:spPr>
          <a:xfrm>
            <a:off x="14795019" y="276368"/>
            <a:ext cx="2743200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CE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0370" y="1943100"/>
            <a:ext cx="9300795" cy="6400800"/>
            <a:chOff x="0" y="0"/>
            <a:chExt cx="3282608" cy="10757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82609" cy="1075777"/>
            </a:xfrm>
            <a:custGeom>
              <a:avLst/>
              <a:gdLst/>
              <a:ahLst/>
              <a:cxnLst/>
              <a:rect l="l" t="t" r="r" b="b"/>
              <a:pathLst>
                <a:path w="3282609" h="1075777">
                  <a:moveTo>
                    <a:pt x="31679" y="0"/>
                  </a:moveTo>
                  <a:lnTo>
                    <a:pt x="3250929" y="0"/>
                  </a:lnTo>
                  <a:cubicBezTo>
                    <a:pt x="3268425" y="0"/>
                    <a:pt x="3282609" y="14183"/>
                    <a:pt x="3282609" y="31679"/>
                  </a:cubicBezTo>
                  <a:lnTo>
                    <a:pt x="3282609" y="1044097"/>
                  </a:lnTo>
                  <a:cubicBezTo>
                    <a:pt x="3282609" y="1052499"/>
                    <a:pt x="3279271" y="1060557"/>
                    <a:pt x="3273330" y="1066498"/>
                  </a:cubicBezTo>
                  <a:cubicBezTo>
                    <a:pt x="3267389" y="1072439"/>
                    <a:pt x="3259331" y="1075777"/>
                    <a:pt x="3250929" y="1075777"/>
                  </a:cubicBezTo>
                  <a:lnTo>
                    <a:pt x="31679" y="1075777"/>
                  </a:lnTo>
                  <a:cubicBezTo>
                    <a:pt x="14183" y="1075777"/>
                    <a:pt x="0" y="1061593"/>
                    <a:pt x="0" y="1044097"/>
                  </a:cubicBezTo>
                  <a:lnTo>
                    <a:pt x="0" y="31679"/>
                  </a:lnTo>
                  <a:cubicBezTo>
                    <a:pt x="0" y="23277"/>
                    <a:pt x="3338" y="15220"/>
                    <a:pt x="9279" y="9279"/>
                  </a:cubicBezTo>
                  <a:cubicBezTo>
                    <a:pt x="15220" y="3338"/>
                    <a:pt x="23277" y="0"/>
                    <a:pt x="3167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82608" cy="111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lang="en-US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8753" y="2236844"/>
            <a:ext cx="8844027" cy="5770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3227" indent="-410214" algn="just">
              <a:spcAft>
                <a:spcPts val="600"/>
              </a:spcAft>
              <a:buFont typeface="Arial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printer ;</a:t>
            </a:r>
          </a:p>
          <a:p>
            <a:pPr marL="363227" indent="-410214" algn="just">
              <a:spcAft>
                <a:spcPts val="600"/>
              </a:spcAft>
              <a:buFont typeface="Arial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lenses, Raspberry Pi camera module, Micro SD card, micro-geared stepper motors ;</a:t>
            </a:r>
          </a:p>
          <a:p>
            <a:pPr marL="363227" indent="-410214" algn="just">
              <a:spcAft>
                <a:spcPts val="600"/>
              </a:spcAft>
              <a:buFont typeface="Arial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(ex : Raspberry Pi) ;</a:t>
            </a:r>
          </a:p>
          <a:p>
            <a:pPr marL="363227" indent="-410214" algn="just">
              <a:spcAft>
                <a:spcPts val="600"/>
              </a:spcAft>
              <a:buFont typeface="Arial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Stepper motors for precise movement in three axes ;</a:t>
            </a:r>
          </a:p>
          <a:p>
            <a:pPr marL="363227" indent="-410214" algn="just">
              <a:spcAft>
                <a:spcPts val="600"/>
              </a:spcAft>
              <a:buFont typeface="Arial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LED illumination kit and various small mechanical components ;</a:t>
            </a:r>
          </a:p>
          <a:p>
            <a:pPr marL="363227" indent="-410214" algn="just">
              <a:spcAft>
                <a:spcPts val="600"/>
              </a:spcAft>
              <a:buFont typeface="Arial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PC to control the microscope via Open Flexure software</a:t>
            </a:r>
            <a:endParaRPr lang="en-US" sz="3500" spc="140" noProof="0" dirty="0">
              <a:solidFill>
                <a:srgbClr val="000000"/>
              </a:solidFill>
              <a:latin typeface="Times New Roman" panose="02020603050405020304" pitchFamily="18" charset="0"/>
              <a:ea typeface="Akzidenz-Grotesk"/>
              <a:cs typeface="Times New Roman" panose="02020603050405020304" pitchFamily="18" charset="0"/>
              <a:sym typeface="Akzidenz-Grotesk"/>
            </a:endParaRPr>
          </a:p>
        </p:txBody>
      </p:sp>
      <p:sp>
        <p:nvSpPr>
          <p:cNvPr id="14" name="Google Shape;68;p14">
            <a:extLst>
              <a:ext uri="{FF2B5EF4-FFF2-40B4-BE49-F238E27FC236}">
                <a16:creationId xmlns:a16="http://schemas.microsoft.com/office/drawing/2014/main" id="{496FDA90-1001-192E-3823-F36C3ACD0875}"/>
              </a:ext>
            </a:extLst>
          </p:cNvPr>
          <p:cNvSpPr/>
          <p:nvPr/>
        </p:nvSpPr>
        <p:spPr>
          <a:xfrm>
            <a:off x="749379" y="276368"/>
            <a:ext cx="2086695" cy="634991"/>
          </a:xfrm>
          <a:prstGeom prst="homePlate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762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sp>
        <p:nvSpPr>
          <p:cNvPr id="15" name="Google Shape;69;p14">
            <a:extLst>
              <a:ext uri="{FF2B5EF4-FFF2-40B4-BE49-F238E27FC236}">
                <a16:creationId xmlns:a16="http://schemas.microsoft.com/office/drawing/2014/main" id="{2445AE70-70DC-C2E4-2DA4-9FCF95D83811}"/>
              </a:ext>
            </a:extLst>
          </p:cNvPr>
          <p:cNvSpPr/>
          <p:nvPr/>
        </p:nvSpPr>
        <p:spPr>
          <a:xfrm>
            <a:off x="2836074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</a:p>
        </p:txBody>
      </p:sp>
      <p:sp>
        <p:nvSpPr>
          <p:cNvPr id="16" name="Google Shape;70;p14">
            <a:extLst>
              <a:ext uri="{FF2B5EF4-FFF2-40B4-BE49-F238E27FC236}">
                <a16:creationId xmlns:a16="http://schemas.microsoft.com/office/drawing/2014/main" id="{B332E23A-12EC-0AB7-8EC6-63FD5BB357AD}"/>
              </a:ext>
            </a:extLst>
          </p:cNvPr>
          <p:cNvSpPr/>
          <p:nvPr/>
        </p:nvSpPr>
        <p:spPr>
          <a:xfrm>
            <a:off x="4789183" y="277106"/>
            <a:ext cx="4595214" cy="633515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Means &amp; Needing</a:t>
            </a:r>
          </a:p>
        </p:txBody>
      </p:sp>
      <p:sp>
        <p:nvSpPr>
          <p:cNvPr id="17" name="Google Shape;71;p14">
            <a:extLst>
              <a:ext uri="{FF2B5EF4-FFF2-40B4-BE49-F238E27FC236}">
                <a16:creationId xmlns:a16="http://schemas.microsoft.com/office/drawing/2014/main" id="{91BC9F16-001A-C51F-DA78-64E769F19CD0}"/>
              </a:ext>
            </a:extLst>
          </p:cNvPr>
          <p:cNvSpPr/>
          <p:nvPr/>
        </p:nvSpPr>
        <p:spPr>
          <a:xfrm>
            <a:off x="9367502" y="276368"/>
            <a:ext cx="3474408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E17D5B7B-6C96-F2DB-D6B0-74FEECA1F5C7}"/>
              </a:ext>
            </a:extLst>
          </p:cNvPr>
          <p:cNvSpPr/>
          <p:nvPr/>
        </p:nvSpPr>
        <p:spPr>
          <a:xfrm>
            <a:off x="12841910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sp>
        <p:nvSpPr>
          <p:cNvPr id="19" name="Google Shape;71;p14">
            <a:extLst>
              <a:ext uri="{FF2B5EF4-FFF2-40B4-BE49-F238E27FC236}">
                <a16:creationId xmlns:a16="http://schemas.microsoft.com/office/drawing/2014/main" id="{37AC8E46-7665-5AC7-0D92-2D461DBF50F7}"/>
              </a:ext>
            </a:extLst>
          </p:cNvPr>
          <p:cNvSpPr/>
          <p:nvPr/>
        </p:nvSpPr>
        <p:spPr>
          <a:xfrm>
            <a:off x="14795019" y="276368"/>
            <a:ext cx="2743200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E8A1D14-C4A9-CD50-67B3-6AB034516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3715" y="8242952"/>
            <a:ext cx="1906162" cy="191429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DDF30220-8FEC-01D0-44DC-EA76C0FC2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600" y="7067668"/>
            <a:ext cx="2523178" cy="2145174"/>
          </a:xfrm>
          <a:prstGeom prst="rect">
            <a:avLst/>
          </a:prstGeom>
        </p:spPr>
      </p:pic>
      <p:pic>
        <p:nvPicPr>
          <p:cNvPr id="5130" name="Picture 10" descr="Kit Todo Oficial - Raspberry Pi 3B+ - The Pi Box">
            <a:extLst>
              <a:ext uri="{FF2B5EF4-FFF2-40B4-BE49-F238E27FC236}">
                <a16:creationId xmlns:a16="http://schemas.microsoft.com/office/drawing/2014/main" id="{8F31B858-FB6D-02D1-00EC-E6B738A08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5723" y="1264564"/>
            <a:ext cx="3063695" cy="306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Microscopes - 4X 10X 40X 100X">
            <a:extLst>
              <a:ext uri="{FF2B5EF4-FFF2-40B4-BE49-F238E27FC236}">
                <a16:creationId xmlns:a16="http://schemas.microsoft.com/office/drawing/2014/main" id="{90DDC0F8-4556-3ED2-0417-6352B5D15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919" y="4986329"/>
            <a:ext cx="3089982" cy="308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Raspberry Pi Camera - IR Cut Camera - Supports Night Vision Buy in ...">
            <a:extLst>
              <a:ext uri="{FF2B5EF4-FFF2-40B4-BE49-F238E27FC236}">
                <a16:creationId xmlns:a16="http://schemas.microsoft.com/office/drawing/2014/main" id="{6FD22617-208D-4B23-6650-43E167031B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9" b="6363"/>
          <a:stretch>
            <a:fillRect/>
          </a:stretch>
        </p:blipFill>
        <p:spPr bwMode="auto">
          <a:xfrm>
            <a:off x="14554200" y="4446284"/>
            <a:ext cx="2784842" cy="238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 descr="Prusa MK4: L'Imprimante 3D Ultime pour Rapidité et Précision">
            <a:extLst>
              <a:ext uri="{FF2B5EF4-FFF2-40B4-BE49-F238E27FC236}">
                <a16:creationId xmlns:a16="http://schemas.microsoft.com/office/drawing/2014/main" id="{B1F7BFA6-1FA5-EC45-6261-80536F269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1" r="7937"/>
          <a:stretch>
            <a:fillRect/>
          </a:stretch>
        </p:blipFill>
        <p:spPr bwMode="auto">
          <a:xfrm>
            <a:off x="10922864" y="1323959"/>
            <a:ext cx="2895600" cy="349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2" name="Picture 22" descr="75 x 3mm rot gruen gelb sortierte Farbe LED Leuchtdioden DE | eBay">
            <a:extLst>
              <a:ext uri="{FF2B5EF4-FFF2-40B4-BE49-F238E27FC236}">
                <a16:creationId xmlns:a16="http://schemas.microsoft.com/office/drawing/2014/main" id="{104424EB-F0FA-50D2-C991-40DE346978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4074" r="3333" b="6296"/>
          <a:stretch>
            <a:fillRect/>
          </a:stretch>
        </p:blipFill>
        <p:spPr bwMode="auto">
          <a:xfrm>
            <a:off x="12760351" y="8211902"/>
            <a:ext cx="2347301" cy="186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4219" y="1714500"/>
            <a:ext cx="16764000" cy="7914394"/>
            <a:chOff x="0" y="0"/>
            <a:chExt cx="3441335" cy="10066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1335" cy="1006605"/>
            </a:xfrm>
            <a:custGeom>
              <a:avLst/>
              <a:gdLst/>
              <a:ahLst/>
              <a:cxnLst/>
              <a:rect l="l" t="t" r="r" b="b"/>
              <a:pathLst>
                <a:path w="3441335" h="1006605">
                  <a:moveTo>
                    <a:pt x="30218" y="0"/>
                  </a:moveTo>
                  <a:lnTo>
                    <a:pt x="3411117" y="0"/>
                  </a:lnTo>
                  <a:cubicBezTo>
                    <a:pt x="3427806" y="0"/>
                    <a:pt x="3441335" y="13529"/>
                    <a:pt x="3441335" y="30218"/>
                  </a:cubicBezTo>
                  <a:lnTo>
                    <a:pt x="3441335" y="976387"/>
                  </a:lnTo>
                  <a:cubicBezTo>
                    <a:pt x="3441335" y="984401"/>
                    <a:pt x="3438151" y="992088"/>
                    <a:pt x="3432484" y="997755"/>
                  </a:cubicBezTo>
                  <a:cubicBezTo>
                    <a:pt x="3426817" y="1003422"/>
                    <a:pt x="3419131" y="1006605"/>
                    <a:pt x="3411117" y="1006605"/>
                  </a:cubicBezTo>
                  <a:lnTo>
                    <a:pt x="30218" y="1006605"/>
                  </a:lnTo>
                  <a:cubicBezTo>
                    <a:pt x="13529" y="1006605"/>
                    <a:pt x="0" y="993076"/>
                    <a:pt x="0" y="976387"/>
                  </a:cubicBezTo>
                  <a:lnTo>
                    <a:pt x="0" y="30218"/>
                  </a:lnTo>
                  <a:cubicBezTo>
                    <a:pt x="0" y="22204"/>
                    <a:pt x="3184" y="14518"/>
                    <a:pt x="8851" y="8851"/>
                  </a:cubicBezTo>
                  <a:cubicBezTo>
                    <a:pt x="14518" y="3184"/>
                    <a:pt x="22204" y="0"/>
                    <a:pt x="3021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41335" cy="1044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lang="en-US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2198" y="2205949"/>
            <a:ext cx="8088997" cy="636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 scripts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documentation on the steps of 3D printing, assembly and calibration.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of use (e.g. image acquisition, calibration, maintenance, configuration of plugins).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microscope (prototype)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presentation </a:t>
            </a:r>
          </a:p>
        </p:txBody>
      </p:sp>
      <p:sp>
        <p:nvSpPr>
          <p:cNvPr id="14" name="Google Shape;68;p14">
            <a:extLst>
              <a:ext uri="{FF2B5EF4-FFF2-40B4-BE49-F238E27FC236}">
                <a16:creationId xmlns:a16="http://schemas.microsoft.com/office/drawing/2014/main" id="{E151067C-69E3-4A2B-7024-8A86A9AAD37F}"/>
              </a:ext>
            </a:extLst>
          </p:cNvPr>
          <p:cNvSpPr/>
          <p:nvPr/>
        </p:nvSpPr>
        <p:spPr>
          <a:xfrm>
            <a:off x="749379" y="276368"/>
            <a:ext cx="2086695" cy="634991"/>
          </a:xfrm>
          <a:prstGeom prst="homePlate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762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sp>
        <p:nvSpPr>
          <p:cNvPr id="15" name="Google Shape;69;p14">
            <a:extLst>
              <a:ext uri="{FF2B5EF4-FFF2-40B4-BE49-F238E27FC236}">
                <a16:creationId xmlns:a16="http://schemas.microsoft.com/office/drawing/2014/main" id="{D7EE4931-2794-57B9-605C-1F51F93E9CB6}"/>
              </a:ext>
            </a:extLst>
          </p:cNvPr>
          <p:cNvSpPr/>
          <p:nvPr/>
        </p:nvSpPr>
        <p:spPr>
          <a:xfrm>
            <a:off x="2836074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</a:p>
        </p:txBody>
      </p:sp>
      <p:sp>
        <p:nvSpPr>
          <p:cNvPr id="16" name="Google Shape;70;p14">
            <a:extLst>
              <a:ext uri="{FF2B5EF4-FFF2-40B4-BE49-F238E27FC236}">
                <a16:creationId xmlns:a16="http://schemas.microsoft.com/office/drawing/2014/main" id="{DDEDAD76-6C3F-1652-8176-549E15891519}"/>
              </a:ext>
            </a:extLst>
          </p:cNvPr>
          <p:cNvSpPr/>
          <p:nvPr/>
        </p:nvSpPr>
        <p:spPr>
          <a:xfrm>
            <a:off x="4789183" y="277106"/>
            <a:ext cx="4595214" cy="633515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Means &amp; Needing</a:t>
            </a:r>
          </a:p>
        </p:txBody>
      </p:sp>
      <p:sp>
        <p:nvSpPr>
          <p:cNvPr id="17" name="Google Shape;71;p14">
            <a:extLst>
              <a:ext uri="{FF2B5EF4-FFF2-40B4-BE49-F238E27FC236}">
                <a16:creationId xmlns:a16="http://schemas.microsoft.com/office/drawing/2014/main" id="{43F7C4D9-815D-B960-07FB-337154423B39}"/>
              </a:ext>
            </a:extLst>
          </p:cNvPr>
          <p:cNvSpPr/>
          <p:nvPr/>
        </p:nvSpPr>
        <p:spPr>
          <a:xfrm>
            <a:off x="9367502" y="276368"/>
            <a:ext cx="3474408" cy="634991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C5037204-86F4-0A33-5778-3AB54AAF853E}"/>
              </a:ext>
            </a:extLst>
          </p:cNvPr>
          <p:cNvSpPr/>
          <p:nvPr/>
        </p:nvSpPr>
        <p:spPr>
          <a:xfrm>
            <a:off x="12841910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sp>
        <p:nvSpPr>
          <p:cNvPr id="19" name="Google Shape;71;p14">
            <a:extLst>
              <a:ext uri="{FF2B5EF4-FFF2-40B4-BE49-F238E27FC236}">
                <a16:creationId xmlns:a16="http://schemas.microsoft.com/office/drawing/2014/main" id="{2826C704-3B08-E471-7454-5C32B909A3A0}"/>
              </a:ext>
            </a:extLst>
          </p:cNvPr>
          <p:cNvSpPr/>
          <p:nvPr/>
        </p:nvSpPr>
        <p:spPr>
          <a:xfrm>
            <a:off x="14795019" y="276368"/>
            <a:ext cx="2743200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E762D81-E462-0B94-0A82-CC7ECE99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613" y="4943117"/>
            <a:ext cx="2245690" cy="224569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90FA4C23-EF9F-9D97-6B17-31FA67837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638" y="2280799"/>
            <a:ext cx="2490202" cy="2490202"/>
          </a:xfrm>
          <a:prstGeom prst="rect">
            <a:avLst/>
          </a:prstGeom>
        </p:spPr>
      </p:pic>
      <p:pic>
        <p:nvPicPr>
          <p:cNvPr id="28" name="Image 27" descr="Une image contenant dessin, Visage humain, texte, croquis&#10;&#10;Le contenu généré par l’IA peut être incorrect.">
            <a:extLst>
              <a:ext uri="{FF2B5EF4-FFF2-40B4-BE49-F238E27FC236}">
                <a16:creationId xmlns:a16="http://schemas.microsoft.com/office/drawing/2014/main" id="{5388EBDB-4760-FC4D-DCBC-7C78EBE3C7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350860" y="2020206"/>
            <a:ext cx="3732789" cy="2388605"/>
          </a:xfrm>
          <a:prstGeom prst="rect">
            <a:avLst/>
          </a:prstGeom>
        </p:spPr>
      </p:pic>
      <p:pic>
        <p:nvPicPr>
          <p:cNvPr id="4098" name="Picture 2" descr="The OpenFlexure microscope (left) and OpenFlexure delta stage (right ...">
            <a:extLst>
              <a:ext uri="{FF2B5EF4-FFF2-40B4-BE49-F238E27FC236}">
                <a16:creationId xmlns:a16="http://schemas.microsoft.com/office/drawing/2014/main" id="{C2A5C78F-9D64-6B53-9494-0CC3554A4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9240" y="5593764"/>
            <a:ext cx="4429125" cy="3215024"/>
          </a:xfrm>
          <a:custGeom>
            <a:avLst/>
            <a:gdLst>
              <a:gd name="connsiteX0" fmla="*/ 0 w 4429125"/>
              <a:gd name="connsiteY0" fmla="*/ 0 h 3215024"/>
              <a:gd name="connsiteX1" fmla="*/ 4429125 w 4429125"/>
              <a:gd name="connsiteY1" fmla="*/ 0 h 3215024"/>
              <a:gd name="connsiteX2" fmla="*/ 4429125 w 4429125"/>
              <a:gd name="connsiteY2" fmla="*/ 3215024 h 3215024"/>
              <a:gd name="connsiteX3" fmla="*/ 0 w 4429125"/>
              <a:gd name="connsiteY3" fmla="*/ 3215024 h 3215024"/>
              <a:gd name="connsiteX4" fmla="*/ 0 w 4429125"/>
              <a:gd name="connsiteY4" fmla="*/ 0 h 3215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9125" h="3215024" extrusionOk="0">
                <a:moveTo>
                  <a:pt x="0" y="0"/>
                </a:moveTo>
                <a:cubicBezTo>
                  <a:pt x="501150" y="-5264"/>
                  <a:pt x="3608251" y="84467"/>
                  <a:pt x="4429125" y="0"/>
                </a:cubicBezTo>
                <a:cubicBezTo>
                  <a:pt x="4300952" y="909913"/>
                  <a:pt x="4558275" y="1751247"/>
                  <a:pt x="4429125" y="3215024"/>
                </a:cubicBezTo>
                <a:cubicBezTo>
                  <a:pt x="2674380" y="3321344"/>
                  <a:pt x="2191088" y="3207375"/>
                  <a:pt x="0" y="3215024"/>
                </a:cubicBezTo>
                <a:cubicBezTo>
                  <a:pt x="160128" y="1787447"/>
                  <a:pt x="25049" y="1164645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CE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F7DA9-E49D-C41D-29B8-4634014C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8;p14">
            <a:extLst>
              <a:ext uri="{FF2B5EF4-FFF2-40B4-BE49-F238E27FC236}">
                <a16:creationId xmlns:a16="http://schemas.microsoft.com/office/drawing/2014/main" id="{AF90CEA4-FD15-C333-01F3-736DCCD15AE6}"/>
              </a:ext>
            </a:extLst>
          </p:cNvPr>
          <p:cNvSpPr/>
          <p:nvPr/>
        </p:nvSpPr>
        <p:spPr>
          <a:xfrm>
            <a:off x="749379" y="276368"/>
            <a:ext cx="2086695" cy="634991"/>
          </a:xfrm>
          <a:prstGeom prst="homePlate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762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sp>
        <p:nvSpPr>
          <p:cNvPr id="15" name="Google Shape;69;p14">
            <a:extLst>
              <a:ext uri="{FF2B5EF4-FFF2-40B4-BE49-F238E27FC236}">
                <a16:creationId xmlns:a16="http://schemas.microsoft.com/office/drawing/2014/main" id="{F90C96EE-DC1F-7675-1843-07D6764E8822}"/>
              </a:ext>
            </a:extLst>
          </p:cNvPr>
          <p:cNvSpPr/>
          <p:nvPr/>
        </p:nvSpPr>
        <p:spPr>
          <a:xfrm>
            <a:off x="2836074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</a:p>
        </p:txBody>
      </p:sp>
      <p:sp>
        <p:nvSpPr>
          <p:cNvPr id="16" name="Google Shape;70;p14">
            <a:extLst>
              <a:ext uri="{FF2B5EF4-FFF2-40B4-BE49-F238E27FC236}">
                <a16:creationId xmlns:a16="http://schemas.microsoft.com/office/drawing/2014/main" id="{BC1140FF-F1BD-92AF-1419-233E30523F60}"/>
              </a:ext>
            </a:extLst>
          </p:cNvPr>
          <p:cNvSpPr/>
          <p:nvPr/>
        </p:nvSpPr>
        <p:spPr>
          <a:xfrm>
            <a:off x="4789183" y="277106"/>
            <a:ext cx="4595214" cy="633515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dirty="0">
                <a:latin typeface="Times New Roman"/>
                <a:ea typeface="Times New Roman"/>
                <a:cs typeface="Times New Roman"/>
                <a:sym typeface="Times New Roman"/>
              </a:rPr>
              <a:t>Means &amp; Needing</a:t>
            </a:r>
            <a:endParaRPr lang="en-US" sz="38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71;p14">
            <a:extLst>
              <a:ext uri="{FF2B5EF4-FFF2-40B4-BE49-F238E27FC236}">
                <a16:creationId xmlns:a16="http://schemas.microsoft.com/office/drawing/2014/main" id="{07052FEE-F910-0A5C-C852-8D267012913C}"/>
              </a:ext>
            </a:extLst>
          </p:cNvPr>
          <p:cNvSpPr/>
          <p:nvPr/>
        </p:nvSpPr>
        <p:spPr>
          <a:xfrm>
            <a:off x="9367502" y="276368"/>
            <a:ext cx="3474408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D25CA109-D044-86AE-E47F-BE38420005B6}"/>
              </a:ext>
            </a:extLst>
          </p:cNvPr>
          <p:cNvSpPr/>
          <p:nvPr/>
        </p:nvSpPr>
        <p:spPr>
          <a:xfrm>
            <a:off x="12841910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sp>
        <p:nvSpPr>
          <p:cNvPr id="19" name="Google Shape;71;p14">
            <a:extLst>
              <a:ext uri="{FF2B5EF4-FFF2-40B4-BE49-F238E27FC236}">
                <a16:creationId xmlns:a16="http://schemas.microsoft.com/office/drawing/2014/main" id="{894C7862-3312-D792-3C68-34A7164798FA}"/>
              </a:ext>
            </a:extLst>
          </p:cNvPr>
          <p:cNvSpPr/>
          <p:nvPr/>
        </p:nvSpPr>
        <p:spPr>
          <a:xfrm>
            <a:off x="14795019" y="276368"/>
            <a:ext cx="2743200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9AC8E266-4757-FB07-0104-FCA2C62F70C6}"/>
              </a:ext>
            </a:extLst>
          </p:cNvPr>
          <p:cNvGrpSpPr/>
          <p:nvPr/>
        </p:nvGrpSpPr>
        <p:grpSpPr>
          <a:xfrm>
            <a:off x="10134600" y="6521405"/>
            <a:ext cx="7924734" cy="3282988"/>
            <a:chOff x="0" y="0"/>
            <a:chExt cx="3441335" cy="1006605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59AF4E97-75DA-2D69-8DBC-B6B146659629}"/>
                </a:ext>
              </a:extLst>
            </p:cNvPr>
            <p:cNvSpPr/>
            <p:nvPr/>
          </p:nvSpPr>
          <p:spPr>
            <a:xfrm>
              <a:off x="0" y="0"/>
              <a:ext cx="3441335" cy="1006605"/>
            </a:xfrm>
            <a:custGeom>
              <a:avLst/>
              <a:gdLst/>
              <a:ahLst/>
              <a:cxnLst/>
              <a:rect l="l" t="t" r="r" b="b"/>
              <a:pathLst>
                <a:path w="3441335" h="1006605">
                  <a:moveTo>
                    <a:pt x="30218" y="0"/>
                  </a:moveTo>
                  <a:lnTo>
                    <a:pt x="3411117" y="0"/>
                  </a:lnTo>
                  <a:cubicBezTo>
                    <a:pt x="3427806" y="0"/>
                    <a:pt x="3441335" y="13529"/>
                    <a:pt x="3441335" y="30218"/>
                  </a:cubicBezTo>
                  <a:lnTo>
                    <a:pt x="3441335" y="976387"/>
                  </a:lnTo>
                  <a:cubicBezTo>
                    <a:pt x="3441335" y="984401"/>
                    <a:pt x="3438151" y="992088"/>
                    <a:pt x="3432484" y="997755"/>
                  </a:cubicBezTo>
                  <a:cubicBezTo>
                    <a:pt x="3426817" y="1003422"/>
                    <a:pt x="3419131" y="1006605"/>
                    <a:pt x="3411117" y="1006605"/>
                  </a:cubicBezTo>
                  <a:lnTo>
                    <a:pt x="30218" y="1006605"/>
                  </a:lnTo>
                  <a:cubicBezTo>
                    <a:pt x="13529" y="1006605"/>
                    <a:pt x="0" y="993076"/>
                    <a:pt x="0" y="976387"/>
                  </a:cubicBezTo>
                  <a:lnTo>
                    <a:pt x="0" y="30218"/>
                  </a:lnTo>
                  <a:cubicBezTo>
                    <a:pt x="0" y="22204"/>
                    <a:pt x="3184" y="14518"/>
                    <a:pt x="8851" y="8851"/>
                  </a:cubicBezTo>
                  <a:cubicBezTo>
                    <a:pt x="14518" y="3184"/>
                    <a:pt x="22204" y="0"/>
                    <a:pt x="3021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1478A5D1-2519-76C5-0AFC-84CC3CE7C529}"/>
                </a:ext>
              </a:extLst>
            </p:cNvPr>
            <p:cNvSpPr txBox="1"/>
            <p:nvPr/>
          </p:nvSpPr>
          <p:spPr>
            <a:xfrm>
              <a:off x="0" y="-38100"/>
              <a:ext cx="3441335" cy="1044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lang="en-US" noProof="0" dirty="0"/>
            </a:p>
          </p:txBody>
        </p:sp>
      </p:grpSp>
      <p:sp>
        <p:nvSpPr>
          <p:cNvPr id="28" name="ZoneTexte 27">
            <a:extLst>
              <a:ext uri="{FF2B5EF4-FFF2-40B4-BE49-F238E27FC236}">
                <a16:creationId xmlns:a16="http://schemas.microsoft.com/office/drawing/2014/main" id="{7D674203-51E6-9560-8484-322DDBDEED7D}"/>
              </a:ext>
            </a:extLst>
          </p:cNvPr>
          <p:cNvSpPr txBox="1"/>
          <p:nvPr/>
        </p:nvSpPr>
        <p:spPr>
          <a:xfrm>
            <a:off x="10470428" y="6672415"/>
            <a:ext cx="7303597" cy="304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500" b="1" kern="15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Gravité : </a:t>
            </a:r>
            <a:r>
              <a:rPr lang="fr-FR" sz="3500" kern="15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1-gênant, 2-très gênant, 3-grave, 4-fatal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fr-FR" sz="35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Probabilité : </a:t>
            </a:r>
            <a:r>
              <a:rPr lang="fr-FR" sz="35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1-peu probable, 2-probable, 3-très probable, 4-quasi certain</a:t>
            </a:r>
            <a:endParaRPr lang="fr-FR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F3F5529-8663-CCE1-949E-62937E80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6" y="1831645"/>
            <a:ext cx="9717744" cy="6623710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560B14FC-5B53-E1AC-E1AB-703BA45F3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941" y="2089112"/>
            <a:ext cx="8331545" cy="328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6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953C-A09B-0916-C65B-91F54A2E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rganigramme : Procédé 6">
            <a:extLst>
              <a:ext uri="{FF2B5EF4-FFF2-40B4-BE49-F238E27FC236}">
                <a16:creationId xmlns:a16="http://schemas.microsoft.com/office/drawing/2014/main" id="{0B6E187C-EF2E-07D3-C5FE-02BCAA7EDAC7}"/>
              </a:ext>
            </a:extLst>
          </p:cNvPr>
          <p:cNvSpPr/>
          <p:nvPr/>
        </p:nvSpPr>
        <p:spPr>
          <a:xfrm>
            <a:off x="15483" y="0"/>
            <a:ext cx="18272517" cy="840972"/>
          </a:xfrm>
          <a:prstGeom prst="flowChartProcess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en-US" sz="4500" b="1" noProof="0" dirty="0">
                <a:solidFill>
                  <a:srgbClr val="000000"/>
                </a:solidFill>
                <a:latin typeface="Times New Roman"/>
                <a:ea typeface="Times New Roman Bold"/>
                <a:cs typeface="Times New Roman"/>
              </a:rPr>
              <a:t>Team</a:t>
            </a:r>
            <a:endParaRPr lang="en-US" sz="4500" b="1" noProof="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D656C73-CEE1-1BB2-1642-AF4EAAA590BD}"/>
              </a:ext>
            </a:extLst>
          </p:cNvPr>
          <p:cNvSpPr txBox="1"/>
          <p:nvPr/>
        </p:nvSpPr>
        <p:spPr>
          <a:xfrm>
            <a:off x="2275784" y="5591132"/>
            <a:ext cx="4724400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noProof="0" dirty="0">
                <a:latin typeface="Times New Roman"/>
              </a:rPr>
              <a:t>Hydrogeologist/ hydrologist, Synthesizing &amp; modeling</a:t>
            </a:r>
            <a:endParaRPr lang="en-US" sz="3000" noProof="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9DA2C4C-C0FA-4709-50AF-CE67C129EFFC}"/>
              </a:ext>
            </a:extLst>
          </p:cNvPr>
          <p:cNvSpPr txBox="1"/>
          <p:nvPr/>
        </p:nvSpPr>
        <p:spPr>
          <a:xfrm>
            <a:off x="2054470" y="4901080"/>
            <a:ext cx="516702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500" noProof="0" dirty="0">
                <a:latin typeface="Times New Roman"/>
              </a:rPr>
              <a:t>MAIGA Yahiya Abdou</a:t>
            </a:r>
            <a:r>
              <a:rPr lang="en-US" sz="3500" noProof="0" dirty="0">
                <a:latin typeface="Times New Roman"/>
                <a:cs typeface="Times New Roman"/>
              </a:rPr>
              <a:t>​</a:t>
            </a:r>
            <a:endParaRPr lang="en-US" sz="3500" noProof="0" dirty="0"/>
          </a:p>
        </p:txBody>
      </p:sp>
      <p:pic>
        <p:nvPicPr>
          <p:cNvPr id="14" name="Image 13" descr="Une image contenant Visage humain, personne, Menton, Front&#10;&#10;Le contenu généré par l’IA peut être incorrect.">
            <a:extLst>
              <a:ext uri="{FF2B5EF4-FFF2-40B4-BE49-F238E27FC236}">
                <a16:creationId xmlns:a16="http://schemas.microsoft.com/office/drawing/2014/main" id="{DC32135B-E2D0-AEF1-5BC9-8AA95B81D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960" y="1071712"/>
            <a:ext cx="2940050" cy="359516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252AED56-6F7E-0F26-91A6-D461D3165736}"/>
              </a:ext>
            </a:extLst>
          </p:cNvPr>
          <p:cNvSpPr txBox="1"/>
          <p:nvPr/>
        </p:nvSpPr>
        <p:spPr>
          <a:xfrm>
            <a:off x="11707749" y="5592866"/>
            <a:ext cx="3753706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noProof="0" dirty="0">
                <a:latin typeface="Times New Roman"/>
              </a:rPr>
              <a:t>Specialist of Internet Of Things</a:t>
            </a:r>
            <a:endParaRPr lang="en-US" sz="3000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89ECF5A-5287-84A7-01F5-6243EAB1C40F}"/>
              </a:ext>
            </a:extLst>
          </p:cNvPr>
          <p:cNvSpPr txBox="1"/>
          <p:nvPr/>
        </p:nvSpPr>
        <p:spPr>
          <a:xfrm>
            <a:off x="11287818" y="4901080"/>
            <a:ext cx="459356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500" noProof="0" dirty="0">
                <a:latin typeface="Times New Roman"/>
                <a:cs typeface="Times New Roman"/>
              </a:rPr>
              <a:t>MUSHTAQ Aqib</a:t>
            </a:r>
            <a:endParaRPr lang="en-US" sz="3500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CFFD205-D088-49D8-B3F0-D4DF68AB2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0" y="0"/>
            <a:ext cx="1962270" cy="850031"/>
          </a:xfrm>
          <a:prstGeom prst="rect">
            <a:avLst/>
          </a:prstGeom>
        </p:spPr>
      </p:pic>
      <p:pic>
        <p:nvPicPr>
          <p:cNvPr id="4" name="Picture 4" descr="Graduate School Chimie | Université Paris-Saclay">
            <a:extLst>
              <a:ext uri="{FF2B5EF4-FFF2-40B4-BE49-F238E27FC236}">
                <a16:creationId xmlns:a16="http://schemas.microsoft.com/office/drawing/2014/main" id="{52642D54-75AA-C400-152B-29C6B28AA1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8" t="22801" r="4238" b="5517"/>
          <a:stretch>
            <a:fillRect/>
          </a:stretch>
        </p:blipFill>
        <p:spPr bwMode="auto">
          <a:xfrm>
            <a:off x="2131187" y="14393"/>
            <a:ext cx="2334087" cy="83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D159E99-8083-3A47-1DD5-8C7F43214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991" y="5333"/>
            <a:ext cx="2111887" cy="844698"/>
          </a:xfrm>
          <a:prstGeom prst="rect">
            <a:avLst/>
          </a:prstGeom>
        </p:spPr>
      </p:pic>
      <p:pic>
        <p:nvPicPr>
          <p:cNvPr id="5" name="Image 4" descr="Une image contenant habits, Visage humain, personne, homme&#10;&#10;Le contenu généré par l’IA peut être incorrect.">
            <a:extLst>
              <a:ext uri="{FF2B5EF4-FFF2-40B4-BE49-F238E27FC236}">
                <a16:creationId xmlns:a16="http://schemas.microsoft.com/office/drawing/2014/main" id="{460C25B5-4AEF-B610-1743-E55BF5D6D3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4" r="6366"/>
          <a:stretch>
            <a:fillRect/>
          </a:stretch>
        </p:blipFill>
        <p:spPr>
          <a:xfrm>
            <a:off x="11887200" y="1064516"/>
            <a:ext cx="3429001" cy="359516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05E82BD-3D70-FBBB-5E58-5B4A752CF5CC}"/>
              </a:ext>
            </a:extLst>
          </p:cNvPr>
          <p:cNvSpPr txBox="1"/>
          <p:nvPr/>
        </p:nvSpPr>
        <p:spPr>
          <a:xfrm>
            <a:off x="485799" y="6896100"/>
            <a:ext cx="8304370" cy="29084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skills in electronics and instrumentation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instrument low cost, open source and reproducible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application of the microscope to the rapid analysis of aqueous samples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CFE55FF-E90F-98AB-0EAC-F8A227094C19}"/>
              </a:ext>
            </a:extLst>
          </p:cNvPr>
          <p:cNvSpPr txBox="1"/>
          <p:nvPr/>
        </p:nvSpPr>
        <p:spPr>
          <a:xfrm>
            <a:off x="9449515" y="6896100"/>
            <a:ext cx="8304370" cy="29084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connectivity and data transmission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interface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linking IoT concepts to experimental science,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sensors and electronic components</a:t>
            </a:r>
          </a:p>
        </p:txBody>
      </p:sp>
    </p:spTree>
    <p:extLst>
      <p:ext uri="{BB962C8B-B14F-4D97-AF65-F5344CB8AC3E}">
        <p14:creationId xmlns:p14="http://schemas.microsoft.com/office/powerpoint/2010/main" val="196033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  <p:bldP spid="18" grpId="0"/>
      <p:bldP spid="9" grpId="0"/>
      <p:bldP spid="10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CE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68;p14">
            <a:extLst>
              <a:ext uri="{FF2B5EF4-FFF2-40B4-BE49-F238E27FC236}">
                <a16:creationId xmlns:a16="http://schemas.microsoft.com/office/drawing/2014/main" id="{5A2049BD-886D-DC0A-F065-F7CF43932A43}"/>
              </a:ext>
            </a:extLst>
          </p:cNvPr>
          <p:cNvSpPr/>
          <p:nvPr/>
        </p:nvSpPr>
        <p:spPr>
          <a:xfrm>
            <a:off x="749379" y="276368"/>
            <a:ext cx="2086695" cy="634991"/>
          </a:xfrm>
          <a:prstGeom prst="homePlate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762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Context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BBF86B57-5862-50A4-8CC0-2BC12D9CDCB1}"/>
              </a:ext>
            </a:extLst>
          </p:cNvPr>
          <p:cNvSpPr/>
          <p:nvPr/>
        </p:nvSpPr>
        <p:spPr>
          <a:xfrm>
            <a:off x="2836074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</a:p>
        </p:txBody>
      </p:sp>
      <p:sp>
        <p:nvSpPr>
          <p:cNvPr id="21" name="Google Shape;70;p14">
            <a:extLst>
              <a:ext uri="{FF2B5EF4-FFF2-40B4-BE49-F238E27FC236}">
                <a16:creationId xmlns:a16="http://schemas.microsoft.com/office/drawing/2014/main" id="{37A935A9-A68F-EA4D-F1F8-242013EF2903}"/>
              </a:ext>
            </a:extLst>
          </p:cNvPr>
          <p:cNvSpPr/>
          <p:nvPr/>
        </p:nvSpPr>
        <p:spPr>
          <a:xfrm>
            <a:off x="4789183" y="277106"/>
            <a:ext cx="4595214" cy="633515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dirty="0">
                <a:latin typeface="Times New Roman"/>
                <a:ea typeface="Times New Roman"/>
                <a:cs typeface="Times New Roman"/>
                <a:sym typeface="Times New Roman"/>
              </a:rPr>
              <a:t>Means &amp; Needing</a:t>
            </a:r>
            <a:endParaRPr lang="en-US" sz="38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71;p14">
            <a:extLst>
              <a:ext uri="{FF2B5EF4-FFF2-40B4-BE49-F238E27FC236}">
                <a16:creationId xmlns:a16="http://schemas.microsoft.com/office/drawing/2014/main" id="{09AFABA3-EB3D-547B-6CA2-A71A834AE041}"/>
              </a:ext>
            </a:extLst>
          </p:cNvPr>
          <p:cNvSpPr/>
          <p:nvPr/>
        </p:nvSpPr>
        <p:spPr>
          <a:xfrm>
            <a:off x="9367502" y="276368"/>
            <a:ext cx="3474408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</p:txBody>
      </p:sp>
      <p:sp>
        <p:nvSpPr>
          <p:cNvPr id="23" name="Google Shape;71;p14">
            <a:extLst>
              <a:ext uri="{FF2B5EF4-FFF2-40B4-BE49-F238E27FC236}">
                <a16:creationId xmlns:a16="http://schemas.microsoft.com/office/drawing/2014/main" id="{D71D4743-1EA6-F330-2133-49FA780A87FB}"/>
              </a:ext>
            </a:extLst>
          </p:cNvPr>
          <p:cNvSpPr/>
          <p:nvPr/>
        </p:nvSpPr>
        <p:spPr>
          <a:xfrm>
            <a:off x="12841910" y="276368"/>
            <a:ext cx="1953109" cy="634991"/>
          </a:xfrm>
          <a:prstGeom prst="chevron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E0F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</a:p>
        </p:txBody>
      </p:sp>
      <p:sp>
        <p:nvSpPr>
          <p:cNvPr id="24" name="Google Shape;71;p14">
            <a:extLst>
              <a:ext uri="{FF2B5EF4-FFF2-40B4-BE49-F238E27FC236}">
                <a16:creationId xmlns:a16="http://schemas.microsoft.com/office/drawing/2014/main" id="{97670F52-A7EA-A42D-C9C7-B596F9D858CA}"/>
              </a:ext>
            </a:extLst>
          </p:cNvPr>
          <p:cNvSpPr/>
          <p:nvPr/>
        </p:nvSpPr>
        <p:spPr>
          <a:xfrm>
            <a:off x="14795019" y="276368"/>
            <a:ext cx="2743200" cy="634991"/>
          </a:xfrm>
          <a:prstGeom prst="chevron">
            <a:avLst>
              <a:gd name="adj" fmla="val 50000"/>
            </a:avLst>
          </a:prstGeom>
          <a:solidFill>
            <a:schemeClr val="bg1"/>
          </a:solidFill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3800" noProof="0" dirty="0"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</a:p>
        </p:txBody>
      </p:sp>
      <p:pic>
        <p:nvPicPr>
          <p:cNvPr id="26" name="Image 25" descr="Une image contenant texte, ligne, nombre, Tracé&#10;&#10;Le contenu généré par l’IA peut être incorrect.">
            <a:extLst>
              <a:ext uri="{FF2B5EF4-FFF2-40B4-BE49-F238E27FC236}">
                <a16:creationId xmlns:a16="http://schemas.microsoft.com/office/drawing/2014/main" id="{7B130D45-F99F-4D9E-FEBF-8403C367F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30"/>
          <a:stretch>
            <a:fillRect/>
          </a:stretch>
        </p:blipFill>
        <p:spPr>
          <a:xfrm>
            <a:off x="118795" y="1638300"/>
            <a:ext cx="18093005" cy="800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3719-CB06-2519-FA9F-AA329D72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rganigramme : Procédé 6">
            <a:extLst>
              <a:ext uri="{FF2B5EF4-FFF2-40B4-BE49-F238E27FC236}">
                <a16:creationId xmlns:a16="http://schemas.microsoft.com/office/drawing/2014/main" id="{DFF67437-3BAB-2980-0201-2C6053C2DA52}"/>
              </a:ext>
            </a:extLst>
          </p:cNvPr>
          <p:cNvSpPr/>
          <p:nvPr/>
        </p:nvSpPr>
        <p:spPr>
          <a:xfrm>
            <a:off x="15483" y="0"/>
            <a:ext cx="18272517" cy="840972"/>
          </a:xfrm>
          <a:prstGeom prst="flowChartProcess">
            <a:avLst/>
          </a:prstGeom>
          <a:gradFill flip="none" rotWithShape="1">
            <a:gsLst>
              <a:gs pos="0">
                <a:srgbClr val="FF0000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en-US" sz="4500" b="1" noProof="0" dirty="0">
                <a:solidFill>
                  <a:srgbClr val="000000"/>
                </a:solidFill>
                <a:latin typeface="Times New Roman"/>
                <a:ea typeface="Times New Roman Bold"/>
                <a:cs typeface="Times New Roman"/>
                <a:sym typeface="Times New Roman Bold"/>
              </a:rPr>
              <a:t>Organization of the project  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1732788-5C2E-3ADF-EB44-827918DC5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594143"/>
              </p:ext>
            </p:extLst>
          </p:nvPr>
        </p:nvGraphicFramePr>
        <p:xfrm>
          <a:off x="268885" y="2206034"/>
          <a:ext cx="17750230" cy="58749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70335">
                  <a:extLst>
                    <a:ext uri="{9D8B030D-6E8A-4147-A177-3AD203B41FA5}">
                      <a16:colId xmlns:a16="http://schemas.microsoft.com/office/drawing/2014/main" val="288692928"/>
                    </a:ext>
                  </a:extLst>
                </a:gridCol>
                <a:gridCol w="5070335">
                  <a:extLst>
                    <a:ext uri="{9D8B030D-6E8A-4147-A177-3AD203B41FA5}">
                      <a16:colId xmlns:a16="http://schemas.microsoft.com/office/drawing/2014/main" val="2992282020"/>
                    </a:ext>
                  </a:extLst>
                </a:gridCol>
                <a:gridCol w="2074296">
                  <a:extLst>
                    <a:ext uri="{9D8B030D-6E8A-4147-A177-3AD203B41FA5}">
                      <a16:colId xmlns:a16="http://schemas.microsoft.com/office/drawing/2014/main" val="102321024"/>
                    </a:ext>
                  </a:extLst>
                </a:gridCol>
                <a:gridCol w="5535264">
                  <a:extLst>
                    <a:ext uri="{9D8B030D-6E8A-4147-A177-3AD203B41FA5}">
                      <a16:colId xmlns:a16="http://schemas.microsoft.com/office/drawing/2014/main" val="3414826006"/>
                    </a:ext>
                  </a:extLst>
                </a:gridCol>
              </a:tblGrid>
              <a:tr h="5912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Type of meeting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Frequency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Time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Lieu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863669"/>
                  </a:ext>
                </a:extLst>
              </a:tr>
              <a:tr h="1221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Progress meetings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Once a week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30 min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 err="1">
                          <a:effectLst/>
                          <a:latin typeface="Times New Roman"/>
                        </a:rPr>
                        <a:t>Fablab</a:t>
                      </a:r>
                      <a:r>
                        <a:rPr lang="en-US" sz="3200" noProof="0" dirty="0">
                          <a:effectLst/>
                          <a:latin typeface="Times New Roman"/>
                        </a:rPr>
                        <a:t> / Videoconferencing / Messaging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603277"/>
                  </a:ext>
                </a:extLst>
              </a:tr>
              <a:tr h="18920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Teamwork meetings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2 times a week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8H to 12H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noProof="0" dirty="0" err="1">
                          <a:effectLst/>
                          <a:latin typeface="Times New Roman"/>
                        </a:rPr>
                        <a:t>Fablab</a:t>
                      </a:r>
                      <a:r>
                        <a:rPr lang="en-US" sz="3200" noProof="0" dirty="0">
                          <a:effectLst/>
                          <a:latin typeface="Times New Roman"/>
                        </a:rPr>
                        <a:t> / Videoconferencing / Messaging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512010"/>
                  </a:ext>
                </a:extLst>
              </a:tr>
              <a:tr h="2169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Meetings with the supervisor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once a week with the possibility of exchanging email and zoom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>
                          <a:effectLst/>
                          <a:latin typeface="Times New Roman"/>
                        </a:rPr>
                        <a:t>1h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noProof="0" dirty="0" err="1">
                          <a:effectLst/>
                          <a:latin typeface="Times New Roman"/>
                        </a:rPr>
                        <a:t>Fablab</a:t>
                      </a:r>
                      <a:r>
                        <a:rPr lang="en-US" sz="3200" noProof="0" dirty="0">
                          <a:effectLst/>
                          <a:latin typeface="Times New Roman"/>
                        </a:rPr>
                        <a:t> / Videoconferencing / Messaging</a:t>
                      </a:r>
                    </a:p>
                  </a:txBody>
                  <a:tcPr marL="102870" marR="1028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828840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5EC85958-DBC0-AB4E-012D-DA09A4852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0" y="0"/>
            <a:ext cx="1660400" cy="840915"/>
          </a:xfrm>
          <a:prstGeom prst="rect">
            <a:avLst/>
          </a:prstGeom>
        </p:spPr>
      </p:pic>
      <p:pic>
        <p:nvPicPr>
          <p:cNvPr id="3" name="Picture 4" descr="Graduate School Chimie | Université Paris-Saclay">
            <a:extLst>
              <a:ext uri="{FF2B5EF4-FFF2-40B4-BE49-F238E27FC236}">
                <a16:creationId xmlns:a16="http://schemas.microsoft.com/office/drawing/2014/main" id="{9CC8DDE7-4A0E-D583-CB11-8A403C966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8" t="22801" r="4238" b="5517"/>
          <a:stretch>
            <a:fillRect/>
          </a:stretch>
        </p:blipFill>
        <p:spPr bwMode="auto">
          <a:xfrm>
            <a:off x="1830454" y="-1707"/>
            <a:ext cx="1660400" cy="84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7BB056A-845B-F263-B918-085777F33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571" y="-3412"/>
            <a:ext cx="1660400" cy="84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8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3308</TotalTime>
  <Words>509</Words>
  <Application>Microsoft Office PowerPoint</Application>
  <PresentationFormat>Personnalisé</PresentationFormat>
  <Paragraphs>113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Times New Roman</vt:lpstr>
      <vt:lpstr>Arial</vt:lpstr>
      <vt:lpstr>Calibri</vt:lpstr>
      <vt:lpstr>Aptos</vt:lpstr>
      <vt:lpstr>Speak Pro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Equipment Science Presentation in Green Pink Illustrative Style</dc:title>
  <dc:creator>Yahiya Abdou MAIGA</dc:creator>
  <cp:lastModifiedBy>Yahiya Abdou MAIGA</cp:lastModifiedBy>
  <cp:revision>7</cp:revision>
  <dcterms:created xsi:type="dcterms:W3CDTF">2006-08-16T00:00:00Z</dcterms:created>
  <dcterms:modified xsi:type="dcterms:W3CDTF">2025-11-01T14:52:26Z</dcterms:modified>
  <dc:identifier>DAG3NpWgl2g</dc:identifier>
</cp:coreProperties>
</file>